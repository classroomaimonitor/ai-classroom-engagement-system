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embeddedFontLst>
    <p:embeddedFont>
      <p:font typeface="Kanit" pitchFamily="2" charset="-34"/>
      <p:regular r:id="rId15"/>
    </p:embeddedFont>
    <p:embeddedFont>
      <p:font typeface="Martel Sans Light" pitchFamily="2" charset="77"/>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154" d="100"/>
          <a:sy n="154" d="100"/>
        </p:scale>
        <p:origin x="4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0463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txBody>
          <a:bodyPr/>
          <a:lstStyle/>
          <a:p>
            <a:endParaRPr lang="en-US"/>
          </a:p>
        </p:txBody>
      </p:sp>
      <p:sp>
        <p:nvSpPr>
          <p:cNvPr id="3" name="Shape 1"/>
          <p:cNvSpPr/>
          <p:nvPr/>
        </p:nvSpPr>
        <p:spPr>
          <a:xfrm>
            <a:off x="0" y="0"/>
            <a:ext cx="9144000" cy="5143500"/>
          </a:xfrm>
          <a:prstGeom prst="rect">
            <a:avLst/>
          </a:prstGeom>
          <a:solidFill>
            <a:srgbClr val="100C3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1C4E"/>
          </a:solidFill>
          <a:ln/>
        </p:spPr>
      </p:sp>
      <p:sp>
        <p:nvSpPr>
          <p:cNvPr id="3" name="Shape 1"/>
          <p:cNvSpPr/>
          <p:nvPr/>
        </p:nvSpPr>
        <p:spPr>
          <a:xfrm>
            <a:off x="0" y="0"/>
            <a:ext cx="9144000" cy="51435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hyperlink" Target="http://127.0.0.1:8000/"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4.png"/><Relationship Id="rId18" Type="http://schemas.openxmlformats.org/officeDocument/2006/relationships/image" Target="../media/image59.svg"/><Relationship Id="rId3" Type="http://schemas.openxmlformats.org/officeDocument/2006/relationships/image" Target="../media/image44.png"/><Relationship Id="rId21" Type="http://schemas.openxmlformats.org/officeDocument/2006/relationships/image" Target="../media/image62.svg"/><Relationship Id="rId7" Type="http://schemas.openxmlformats.org/officeDocument/2006/relationships/image" Target="../media/image48.png"/><Relationship Id="rId12" Type="http://schemas.openxmlformats.org/officeDocument/2006/relationships/image" Target="../media/image53.svg"/><Relationship Id="rId17" Type="http://schemas.openxmlformats.org/officeDocument/2006/relationships/image" Target="../media/image58.svg"/><Relationship Id="rId2" Type="http://schemas.openxmlformats.org/officeDocument/2006/relationships/notesSlide" Target="../notesSlides/notesSlide10.xml"/><Relationship Id="rId16" Type="http://schemas.openxmlformats.org/officeDocument/2006/relationships/image" Target="../media/image57.svg"/><Relationship Id="rId20" Type="http://schemas.openxmlformats.org/officeDocument/2006/relationships/image" Target="../media/image61.svg"/><Relationship Id="rId1" Type="http://schemas.openxmlformats.org/officeDocument/2006/relationships/slideLayout" Target="../slideLayouts/slideLayout11.xml"/><Relationship Id="rId6" Type="http://schemas.openxmlformats.org/officeDocument/2006/relationships/image" Target="../media/image47.svg"/><Relationship Id="rId11" Type="http://schemas.openxmlformats.org/officeDocument/2006/relationships/image" Target="../media/image52.png"/><Relationship Id="rId24" Type="http://schemas.openxmlformats.org/officeDocument/2006/relationships/image" Target="../media/image24.png"/><Relationship Id="rId5" Type="http://schemas.openxmlformats.org/officeDocument/2006/relationships/image" Target="../media/image46.png"/><Relationship Id="rId15" Type="http://schemas.openxmlformats.org/officeDocument/2006/relationships/image" Target="../media/image56.png"/><Relationship Id="rId23" Type="http://schemas.openxmlformats.org/officeDocument/2006/relationships/image" Target="../media/image64.svg"/><Relationship Id="rId10" Type="http://schemas.openxmlformats.org/officeDocument/2006/relationships/image" Target="../media/image51.svg"/><Relationship Id="rId19" Type="http://schemas.openxmlformats.org/officeDocument/2006/relationships/image" Target="../media/image60.svg"/><Relationship Id="rId4" Type="http://schemas.openxmlformats.org/officeDocument/2006/relationships/image" Target="../media/image45.svg"/><Relationship Id="rId9" Type="http://schemas.openxmlformats.org/officeDocument/2006/relationships/image" Target="../media/image50.png"/><Relationship Id="rId14" Type="http://schemas.openxmlformats.org/officeDocument/2006/relationships/image" Target="../media/image55.svg"/><Relationship Id="rId22" Type="http://schemas.openxmlformats.org/officeDocument/2006/relationships/image" Target="../media/image63.sv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523577" y="680889"/>
            <a:ext cx="2021681" cy="245938"/>
          </a:xfrm>
          <a:prstGeom prst="roundRect">
            <a:avLst>
              <a:gd name="adj" fmla="val 6388"/>
            </a:avLst>
          </a:prstGeom>
          <a:solidFill>
            <a:srgbClr val="4C0107"/>
          </a:solidFill>
          <a:ln/>
        </p:spPr>
        <p:txBody>
          <a:bodyPr/>
          <a:lstStyle/>
          <a:p>
            <a:endParaRPr lang="en-US"/>
          </a:p>
        </p:txBody>
      </p:sp>
      <p:sp>
        <p:nvSpPr>
          <p:cNvPr id="4" name="Text 1"/>
          <p:cNvSpPr/>
          <p:nvPr/>
        </p:nvSpPr>
        <p:spPr>
          <a:xfrm>
            <a:off x="602084" y="720105"/>
            <a:ext cx="2321868" cy="167506"/>
          </a:xfrm>
          <a:prstGeom prst="rect">
            <a:avLst/>
          </a:prstGeom>
          <a:noFill/>
          <a:ln/>
        </p:spPr>
        <p:txBody>
          <a:bodyPr wrap="none" lIns="0" tIns="0" rIns="0" bIns="0" rtlCol="0" anchor="t"/>
          <a:lstStyle/>
          <a:p>
            <a:pPr marL="0" indent="0" algn="l">
              <a:lnSpc>
                <a:spcPct val="133000"/>
              </a:lnSpc>
              <a:buNone/>
            </a:pPr>
            <a:r>
              <a:rPr lang="en-US" sz="800" dirty="0">
                <a:solidFill>
                  <a:srgbClr val="D9E1FF"/>
                </a:solidFill>
                <a:latin typeface="Martel Sans Light" pitchFamily="34" charset="0"/>
                <a:ea typeface="Martel Sans Light" pitchFamily="34" charset="-122"/>
                <a:cs typeface="Martel Sans Light" pitchFamily="34" charset="-120"/>
              </a:rPr>
              <a:t>BCA FINAL YEAR PROJECT · 2025–2026</a:t>
            </a:r>
            <a:endParaRPr lang="en-US" sz="800" dirty="0"/>
          </a:p>
        </p:txBody>
      </p:sp>
      <p:sp>
        <p:nvSpPr>
          <p:cNvPr id="5" name="Text 2"/>
          <p:cNvSpPr/>
          <p:nvPr/>
        </p:nvSpPr>
        <p:spPr>
          <a:xfrm>
            <a:off x="523577" y="979140"/>
            <a:ext cx="4667845" cy="1593949"/>
          </a:xfrm>
          <a:prstGeom prst="rect">
            <a:avLst/>
          </a:prstGeom>
          <a:noFill/>
          <a:ln/>
        </p:spPr>
        <p:txBody>
          <a:bodyPr wrap="square" lIns="0" tIns="0" rIns="0" bIns="0" rtlCol="0" anchor="t">
            <a:normAutofit/>
          </a:bodyPr>
          <a:lstStyle/>
          <a:p>
            <a:pPr marL="0" indent="0" algn="l">
              <a:lnSpc>
                <a:spcPct val="104000"/>
              </a:lnSpc>
              <a:buNone/>
            </a:pPr>
            <a:r>
              <a:rPr lang="en-US" sz="3300" dirty="0">
                <a:solidFill>
                  <a:srgbClr val="FFFFFF"/>
                </a:solidFill>
                <a:latin typeface="Kanit" pitchFamily="34" charset="0"/>
                <a:ea typeface="Kanit" pitchFamily="34" charset="-122"/>
                <a:cs typeface="Kanit" pitchFamily="34" charset="-120"/>
              </a:rPr>
              <a:t>AI-Driven Classroom Engagement Monitoring Using Computer Vision</a:t>
            </a:r>
            <a:endParaRPr lang="en-US" sz="3300" dirty="0"/>
          </a:p>
        </p:txBody>
      </p:sp>
      <p:sp>
        <p:nvSpPr>
          <p:cNvPr id="6" name="Text 3"/>
          <p:cNvSpPr/>
          <p:nvPr/>
        </p:nvSpPr>
        <p:spPr>
          <a:xfrm>
            <a:off x="523577" y="2769394"/>
            <a:ext cx="4707954" cy="531316"/>
          </a:xfrm>
          <a:prstGeom prst="rect">
            <a:avLst/>
          </a:prstGeom>
          <a:noFill/>
          <a:ln/>
        </p:spPr>
        <p:txBody>
          <a:bodyPr wrap="none" lIns="0" tIns="0" rIns="0" bIns="0" rtlCol="0" anchor="t"/>
          <a:lstStyle/>
          <a:p>
            <a:pPr marL="0" indent="0" algn="l">
              <a:lnSpc>
                <a:spcPct val="104000"/>
              </a:lnSpc>
              <a:buNone/>
            </a:pPr>
            <a:endParaRPr lang="en-US" sz="3300" dirty="0"/>
          </a:p>
        </p:txBody>
      </p:sp>
      <p:sp>
        <p:nvSpPr>
          <p:cNvPr id="7" name="Text 4"/>
          <p:cNvSpPr/>
          <p:nvPr/>
        </p:nvSpPr>
        <p:spPr>
          <a:xfrm>
            <a:off x="523577" y="3497014"/>
            <a:ext cx="4038600" cy="231056"/>
          </a:xfrm>
          <a:prstGeom prst="rect">
            <a:avLst/>
          </a:prstGeom>
          <a:noFill/>
          <a:ln/>
        </p:spPr>
        <p:txBody>
          <a:bodyPr wrap="none" lIns="0" tIns="0" rIns="0" bIns="0" rtlCol="0" anchor="t"/>
          <a:lstStyle/>
          <a:p>
            <a:pPr marL="0" indent="0" algn="l">
              <a:lnSpc>
                <a:spcPct val="104000"/>
              </a:lnSpc>
              <a:buNone/>
            </a:pPr>
            <a:r>
              <a:rPr lang="en-US" sz="1450" b="1" dirty="0">
                <a:solidFill>
                  <a:srgbClr val="FFFFFF"/>
                </a:solidFill>
                <a:latin typeface="Kanit" pitchFamily="34" charset="0"/>
                <a:ea typeface="Kanit" pitchFamily="34" charset="-122"/>
                <a:cs typeface="Kanit" pitchFamily="34" charset="-120"/>
              </a:rPr>
              <a:t>Presented By: Mahammadsadiq R Mujavar</a:t>
            </a:r>
            <a:endParaRPr lang="en-US" sz="1450" dirty="0"/>
          </a:p>
        </p:txBody>
      </p:sp>
      <p:sp>
        <p:nvSpPr>
          <p:cNvPr id="8" name="Text 5"/>
          <p:cNvSpPr/>
          <p:nvPr/>
        </p:nvSpPr>
        <p:spPr>
          <a:xfrm>
            <a:off x="523577" y="3780383"/>
            <a:ext cx="2341885" cy="192509"/>
          </a:xfrm>
          <a:prstGeom prst="rect">
            <a:avLst/>
          </a:prstGeom>
          <a:noFill/>
          <a:ln/>
        </p:spPr>
        <p:txBody>
          <a:bodyPr wrap="none" lIns="0" tIns="0" rIns="0" bIns="0" rtlCol="0" anchor="t"/>
          <a:lstStyle/>
          <a:p>
            <a:pPr marL="0" indent="0" algn="l">
              <a:lnSpc>
                <a:spcPct val="104000"/>
              </a:lnSpc>
              <a:buNone/>
            </a:pPr>
            <a:r>
              <a:rPr lang="en-US" sz="1200" b="1" dirty="0">
                <a:solidFill>
                  <a:srgbClr val="FFFFFF"/>
                </a:solidFill>
                <a:latin typeface="Kanit" pitchFamily="34" charset="0"/>
                <a:ea typeface="Kanit" pitchFamily="34" charset="-122"/>
                <a:cs typeface="Kanit" pitchFamily="34" charset="-120"/>
              </a:rPr>
              <a:t>Guide: Prof. Nafeesa Mulla </a:t>
            </a:r>
            <a:endParaRPr lang="en-US" sz="1200" dirty="0"/>
          </a:p>
        </p:txBody>
      </p:sp>
      <p:sp>
        <p:nvSpPr>
          <p:cNvPr id="9" name="Text 6"/>
          <p:cNvSpPr/>
          <p:nvPr/>
        </p:nvSpPr>
        <p:spPr>
          <a:xfrm>
            <a:off x="523577" y="4025205"/>
            <a:ext cx="3341563" cy="19250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Kanit" pitchFamily="34" charset="0"/>
                <a:ea typeface="Kanit" pitchFamily="34" charset="-122"/>
                <a:cs typeface="Kanit" pitchFamily="34" charset="-120"/>
              </a:rPr>
              <a:t>Bachelor of Computer Applications (BCA) </a:t>
            </a:r>
            <a:endParaRPr lang="en-US" sz="1200" dirty="0"/>
          </a:p>
        </p:txBody>
      </p:sp>
      <p:sp>
        <p:nvSpPr>
          <p:cNvPr id="10" name="Text 7"/>
          <p:cNvSpPr/>
          <p:nvPr/>
        </p:nvSpPr>
        <p:spPr>
          <a:xfrm>
            <a:off x="523577" y="4270028"/>
            <a:ext cx="2378571" cy="19250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Kanit" pitchFamily="34" charset="0"/>
                <a:ea typeface="Kanit" pitchFamily="34" charset="-122"/>
                <a:cs typeface="Kanit" pitchFamily="34" charset="-120"/>
              </a:rPr>
              <a:t>Nehru BBA and BCA College</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351755" y="287387"/>
            <a:ext cx="2526729" cy="258663"/>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Kanit" pitchFamily="34" charset="0"/>
                <a:ea typeface="Kanit" pitchFamily="34" charset="-122"/>
                <a:cs typeface="Kanit" pitchFamily="34" charset="-120"/>
              </a:rPr>
              <a:t>Presentation Agenda</a:t>
            </a:r>
            <a:endParaRPr lang="en-US" sz="1600" dirty="0"/>
          </a:p>
        </p:txBody>
      </p:sp>
      <p:pic>
        <p:nvPicPr>
          <p:cNvPr id="4" name="Image 1" descr="preencoded.png"/>
          <p:cNvPicPr>
            <a:picLocks noChangeAspect="1"/>
          </p:cNvPicPr>
          <p:nvPr/>
        </p:nvPicPr>
        <p:blipFill>
          <a:blip r:embed="rId4"/>
          <a:stretch>
            <a:fillRect/>
          </a:stretch>
        </p:blipFill>
        <p:spPr>
          <a:xfrm>
            <a:off x="351755" y="634678"/>
            <a:ext cx="439713" cy="527670"/>
          </a:xfrm>
          <a:prstGeom prst="rect">
            <a:avLst/>
          </a:prstGeom>
        </p:spPr>
      </p:pic>
      <p:sp>
        <p:nvSpPr>
          <p:cNvPr id="5" name="Text 1"/>
          <p:cNvSpPr/>
          <p:nvPr/>
        </p:nvSpPr>
        <p:spPr>
          <a:xfrm>
            <a:off x="850553" y="722561"/>
            <a:ext cx="1034728" cy="129332"/>
          </a:xfrm>
          <a:prstGeom prst="rect">
            <a:avLst/>
          </a:prstGeom>
          <a:noFill/>
          <a:ln/>
        </p:spPr>
        <p:txBody>
          <a:bodyPr wrap="none" lIns="0" tIns="0" rIns="0" bIns="0" rtlCol="0" anchor="t"/>
          <a:lstStyle/>
          <a:p>
            <a:pPr marL="0" indent="0" algn="l">
              <a:lnSpc>
                <a:spcPct val="104000"/>
              </a:lnSpc>
              <a:buNone/>
            </a:pPr>
            <a:r>
              <a:rPr lang="en-US" sz="800" dirty="0">
                <a:solidFill>
                  <a:srgbClr val="D9E1FF"/>
                </a:solidFill>
                <a:latin typeface="Kanit" pitchFamily="34" charset="0"/>
                <a:ea typeface="Kanit" pitchFamily="34" charset="-122"/>
                <a:cs typeface="Kanit" pitchFamily="34" charset="-120"/>
              </a:rPr>
              <a:t>Introduction</a:t>
            </a:r>
            <a:endParaRPr lang="en-US" sz="800" dirty="0"/>
          </a:p>
        </p:txBody>
      </p:sp>
      <p:pic>
        <p:nvPicPr>
          <p:cNvPr id="6" name="Image 2" descr="preencoded.png"/>
          <p:cNvPicPr>
            <a:picLocks noChangeAspect="1"/>
          </p:cNvPicPr>
          <p:nvPr/>
        </p:nvPicPr>
        <p:blipFill>
          <a:blip r:embed="rId5"/>
          <a:stretch>
            <a:fillRect/>
          </a:stretch>
        </p:blipFill>
        <p:spPr>
          <a:xfrm>
            <a:off x="351755" y="1162348"/>
            <a:ext cx="439713" cy="527670"/>
          </a:xfrm>
          <a:prstGeom prst="rect">
            <a:avLst/>
          </a:prstGeom>
        </p:spPr>
      </p:pic>
      <p:sp>
        <p:nvSpPr>
          <p:cNvPr id="7" name="Text 2"/>
          <p:cNvSpPr/>
          <p:nvPr/>
        </p:nvSpPr>
        <p:spPr>
          <a:xfrm>
            <a:off x="850553" y="1250231"/>
            <a:ext cx="1034728" cy="129332"/>
          </a:xfrm>
          <a:prstGeom prst="rect">
            <a:avLst/>
          </a:prstGeom>
          <a:noFill/>
          <a:ln/>
        </p:spPr>
        <p:txBody>
          <a:bodyPr wrap="none" lIns="0" tIns="0" rIns="0" bIns="0" rtlCol="0" anchor="t"/>
          <a:lstStyle/>
          <a:p>
            <a:pPr marL="0" indent="0" algn="l">
              <a:lnSpc>
                <a:spcPct val="104000"/>
              </a:lnSpc>
              <a:buNone/>
            </a:pPr>
            <a:r>
              <a:rPr lang="en-US" sz="800" dirty="0">
                <a:solidFill>
                  <a:srgbClr val="D9E1FF"/>
                </a:solidFill>
                <a:latin typeface="Kanit" pitchFamily="34" charset="0"/>
                <a:ea typeface="Kanit" pitchFamily="34" charset="-122"/>
                <a:cs typeface="Kanit" pitchFamily="34" charset="-120"/>
              </a:rPr>
              <a:t>Project Objectives</a:t>
            </a:r>
            <a:endParaRPr lang="en-US" sz="800" dirty="0"/>
          </a:p>
        </p:txBody>
      </p:sp>
      <p:pic>
        <p:nvPicPr>
          <p:cNvPr id="8" name="Image 3" descr="preencoded.png"/>
          <p:cNvPicPr>
            <a:picLocks noChangeAspect="1"/>
          </p:cNvPicPr>
          <p:nvPr/>
        </p:nvPicPr>
        <p:blipFill>
          <a:blip r:embed="rId6"/>
          <a:stretch>
            <a:fillRect/>
          </a:stretch>
        </p:blipFill>
        <p:spPr>
          <a:xfrm>
            <a:off x="351755" y="1690018"/>
            <a:ext cx="439713" cy="527670"/>
          </a:xfrm>
          <a:prstGeom prst="rect">
            <a:avLst/>
          </a:prstGeom>
        </p:spPr>
      </p:pic>
      <p:sp>
        <p:nvSpPr>
          <p:cNvPr id="9" name="Text 3"/>
          <p:cNvSpPr/>
          <p:nvPr/>
        </p:nvSpPr>
        <p:spPr>
          <a:xfrm>
            <a:off x="850553" y="1777901"/>
            <a:ext cx="1034728" cy="129332"/>
          </a:xfrm>
          <a:prstGeom prst="rect">
            <a:avLst/>
          </a:prstGeom>
          <a:noFill/>
          <a:ln/>
        </p:spPr>
        <p:txBody>
          <a:bodyPr wrap="none" lIns="0" tIns="0" rIns="0" bIns="0" rtlCol="0" anchor="t"/>
          <a:lstStyle/>
          <a:p>
            <a:pPr marL="0" indent="0" algn="l">
              <a:lnSpc>
                <a:spcPct val="104000"/>
              </a:lnSpc>
              <a:buNone/>
            </a:pPr>
            <a:r>
              <a:rPr lang="en-US" sz="800" dirty="0">
                <a:solidFill>
                  <a:srgbClr val="D9E1FF"/>
                </a:solidFill>
                <a:latin typeface="Kanit" pitchFamily="34" charset="0"/>
                <a:ea typeface="Kanit" pitchFamily="34" charset="-122"/>
                <a:cs typeface="Kanit" pitchFamily="34" charset="-120"/>
              </a:rPr>
              <a:t>Technologies Used</a:t>
            </a:r>
            <a:endParaRPr lang="en-US" sz="800" dirty="0"/>
          </a:p>
        </p:txBody>
      </p:sp>
      <p:pic>
        <p:nvPicPr>
          <p:cNvPr id="10" name="Image 4" descr="preencoded.png"/>
          <p:cNvPicPr>
            <a:picLocks noChangeAspect="1"/>
          </p:cNvPicPr>
          <p:nvPr/>
        </p:nvPicPr>
        <p:blipFill>
          <a:blip r:embed="rId7"/>
          <a:stretch>
            <a:fillRect/>
          </a:stretch>
        </p:blipFill>
        <p:spPr>
          <a:xfrm>
            <a:off x="351755" y="2217688"/>
            <a:ext cx="439713" cy="527670"/>
          </a:xfrm>
          <a:prstGeom prst="rect">
            <a:avLst/>
          </a:prstGeom>
        </p:spPr>
      </p:pic>
      <p:sp>
        <p:nvSpPr>
          <p:cNvPr id="11" name="Text 4"/>
          <p:cNvSpPr/>
          <p:nvPr/>
        </p:nvSpPr>
        <p:spPr>
          <a:xfrm>
            <a:off x="850553" y="2305571"/>
            <a:ext cx="1034728" cy="129332"/>
          </a:xfrm>
          <a:prstGeom prst="rect">
            <a:avLst/>
          </a:prstGeom>
          <a:noFill/>
          <a:ln/>
        </p:spPr>
        <p:txBody>
          <a:bodyPr wrap="none" lIns="0" tIns="0" rIns="0" bIns="0" rtlCol="0" anchor="t"/>
          <a:lstStyle/>
          <a:p>
            <a:pPr marL="0" indent="0" algn="l">
              <a:lnSpc>
                <a:spcPct val="104000"/>
              </a:lnSpc>
              <a:buNone/>
            </a:pPr>
            <a:r>
              <a:rPr lang="en-US" sz="800" dirty="0">
                <a:solidFill>
                  <a:srgbClr val="D9E1FF"/>
                </a:solidFill>
                <a:latin typeface="Kanit" pitchFamily="34" charset="0"/>
                <a:ea typeface="Kanit" pitchFamily="34" charset="-122"/>
                <a:cs typeface="Kanit" pitchFamily="34" charset="-120"/>
              </a:rPr>
              <a:t>System Architecture</a:t>
            </a:r>
            <a:endParaRPr lang="en-US" sz="800" dirty="0"/>
          </a:p>
        </p:txBody>
      </p:sp>
      <p:pic>
        <p:nvPicPr>
          <p:cNvPr id="12" name="Image 5" descr="preencoded.png"/>
          <p:cNvPicPr>
            <a:picLocks noChangeAspect="1"/>
          </p:cNvPicPr>
          <p:nvPr/>
        </p:nvPicPr>
        <p:blipFill>
          <a:blip r:embed="rId8"/>
          <a:stretch>
            <a:fillRect/>
          </a:stretch>
        </p:blipFill>
        <p:spPr>
          <a:xfrm>
            <a:off x="351755" y="2745358"/>
            <a:ext cx="439713" cy="527670"/>
          </a:xfrm>
          <a:prstGeom prst="rect">
            <a:avLst/>
          </a:prstGeom>
        </p:spPr>
      </p:pic>
      <p:sp>
        <p:nvSpPr>
          <p:cNvPr id="13" name="Text 5"/>
          <p:cNvSpPr/>
          <p:nvPr/>
        </p:nvSpPr>
        <p:spPr>
          <a:xfrm>
            <a:off x="850553" y="2833241"/>
            <a:ext cx="1034728" cy="129332"/>
          </a:xfrm>
          <a:prstGeom prst="rect">
            <a:avLst/>
          </a:prstGeom>
          <a:noFill/>
          <a:ln/>
        </p:spPr>
        <p:txBody>
          <a:bodyPr wrap="none" lIns="0" tIns="0" rIns="0" bIns="0" rtlCol="0" anchor="t"/>
          <a:lstStyle/>
          <a:p>
            <a:pPr marL="0" indent="0" algn="l">
              <a:lnSpc>
                <a:spcPct val="104000"/>
              </a:lnSpc>
              <a:buNone/>
            </a:pPr>
            <a:r>
              <a:rPr lang="en-US" sz="800" dirty="0">
                <a:solidFill>
                  <a:srgbClr val="D9E1FF"/>
                </a:solidFill>
                <a:latin typeface="Kanit" pitchFamily="34" charset="0"/>
                <a:ea typeface="Kanit" pitchFamily="34" charset="-122"/>
                <a:cs typeface="Kanit" pitchFamily="34" charset="-120"/>
              </a:rPr>
              <a:t>System Modules</a:t>
            </a:r>
            <a:endParaRPr lang="en-US" sz="800" dirty="0"/>
          </a:p>
        </p:txBody>
      </p:sp>
      <p:pic>
        <p:nvPicPr>
          <p:cNvPr id="14" name="Image 6" descr="preencoded.png"/>
          <p:cNvPicPr>
            <a:picLocks noChangeAspect="1"/>
          </p:cNvPicPr>
          <p:nvPr/>
        </p:nvPicPr>
        <p:blipFill>
          <a:blip r:embed="rId9"/>
          <a:stretch>
            <a:fillRect/>
          </a:stretch>
        </p:blipFill>
        <p:spPr>
          <a:xfrm>
            <a:off x="351755" y="3273028"/>
            <a:ext cx="439713" cy="527670"/>
          </a:xfrm>
          <a:prstGeom prst="rect">
            <a:avLst/>
          </a:prstGeom>
        </p:spPr>
      </p:pic>
      <p:sp>
        <p:nvSpPr>
          <p:cNvPr id="15" name="Text 6"/>
          <p:cNvSpPr/>
          <p:nvPr/>
        </p:nvSpPr>
        <p:spPr>
          <a:xfrm>
            <a:off x="850553" y="3360911"/>
            <a:ext cx="1034728" cy="129332"/>
          </a:xfrm>
          <a:prstGeom prst="rect">
            <a:avLst/>
          </a:prstGeom>
          <a:noFill/>
          <a:ln/>
        </p:spPr>
        <p:txBody>
          <a:bodyPr wrap="none" lIns="0" tIns="0" rIns="0" bIns="0" rtlCol="0" anchor="t"/>
          <a:lstStyle/>
          <a:p>
            <a:pPr marL="0" indent="0" algn="l">
              <a:lnSpc>
                <a:spcPct val="104000"/>
              </a:lnSpc>
              <a:buNone/>
            </a:pPr>
            <a:r>
              <a:rPr lang="en-US" sz="800" dirty="0">
                <a:solidFill>
                  <a:srgbClr val="D9E1FF"/>
                </a:solidFill>
                <a:latin typeface="Kanit" pitchFamily="34" charset="0"/>
                <a:ea typeface="Kanit" pitchFamily="34" charset="-122"/>
                <a:cs typeface="Kanit" pitchFamily="34" charset="-120"/>
              </a:rPr>
              <a:t>System Output</a:t>
            </a:r>
            <a:endParaRPr lang="en-US" sz="800" dirty="0"/>
          </a:p>
        </p:txBody>
      </p:sp>
      <p:pic>
        <p:nvPicPr>
          <p:cNvPr id="16" name="Image 7" descr="preencoded.png"/>
          <p:cNvPicPr>
            <a:picLocks noChangeAspect="1"/>
          </p:cNvPicPr>
          <p:nvPr/>
        </p:nvPicPr>
        <p:blipFill>
          <a:blip r:embed="rId10"/>
          <a:stretch>
            <a:fillRect/>
          </a:stretch>
        </p:blipFill>
        <p:spPr>
          <a:xfrm>
            <a:off x="351755" y="3800698"/>
            <a:ext cx="439713" cy="527670"/>
          </a:xfrm>
          <a:prstGeom prst="rect">
            <a:avLst/>
          </a:prstGeom>
        </p:spPr>
      </p:pic>
      <p:sp>
        <p:nvSpPr>
          <p:cNvPr id="17" name="Text 7"/>
          <p:cNvSpPr/>
          <p:nvPr/>
        </p:nvSpPr>
        <p:spPr>
          <a:xfrm>
            <a:off x="850553" y="3888581"/>
            <a:ext cx="1452190" cy="129332"/>
          </a:xfrm>
          <a:prstGeom prst="rect">
            <a:avLst/>
          </a:prstGeom>
          <a:noFill/>
          <a:ln/>
        </p:spPr>
        <p:txBody>
          <a:bodyPr wrap="none" lIns="0" tIns="0" rIns="0" bIns="0" rtlCol="0" anchor="t"/>
          <a:lstStyle/>
          <a:p>
            <a:pPr marL="0" indent="0" algn="l">
              <a:lnSpc>
                <a:spcPct val="104000"/>
              </a:lnSpc>
              <a:buNone/>
            </a:pPr>
            <a:r>
              <a:rPr lang="en-US" sz="800" dirty="0">
                <a:solidFill>
                  <a:srgbClr val="D9E1FF"/>
                </a:solidFill>
                <a:latin typeface="Kanit" pitchFamily="34" charset="0"/>
                <a:ea typeface="Kanit" pitchFamily="34" charset="-122"/>
                <a:cs typeface="Kanit" pitchFamily="34" charset="-120"/>
              </a:rPr>
              <a:t>Advantages and Disadvantages</a:t>
            </a:r>
            <a:endParaRPr lang="en-US" sz="800" dirty="0"/>
          </a:p>
        </p:txBody>
      </p:sp>
      <p:pic>
        <p:nvPicPr>
          <p:cNvPr id="18" name="Image 8" descr="preencoded.png"/>
          <p:cNvPicPr>
            <a:picLocks noChangeAspect="1"/>
          </p:cNvPicPr>
          <p:nvPr/>
        </p:nvPicPr>
        <p:blipFill>
          <a:blip r:embed="rId11"/>
          <a:stretch>
            <a:fillRect/>
          </a:stretch>
        </p:blipFill>
        <p:spPr>
          <a:xfrm>
            <a:off x="351755" y="4328368"/>
            <a:ext cx="439713" cy="527670"/>
          </a:xfrm>
          <a:prstGeom prst="rect">
            <a:avLst/>
          </a:prstGeom>
        </p:spPr>
      </p:pic>
      <p:sp>
        <p:nvSpPr>
          <p:cNvPr id="19" name="Text 8"/>
          <p:cNvSpPr/>
          <p:nvPr/>
        </p:nvSpPr>
        <p:spPr>
          <a:xfrm>
            <a:off x="850553" y="4416251"/>
            <a:ext cx="1034728" cy="129332"/>
          </a:xfrm>
          <a:prstGeom prst="rect">
            <a:avLst/>
          </a:prstGeom>
          <a:noFill/>
          <a:ln/>
        </p:spPr>
        <p:txBody>
          <a:bodyPr wrap="none" lIns="0" tIns="0" rIns="0" bIns="0" rtlCol="0" anchor="t"/>
          <a:lstStyle/>
          <a:p>
            <a:pPr marL="0" indent="0" algn="l">
              <a:lnSpc>
                <a:spcPct val="104000"/>
              </a:lnSpc>
              <a:buNone/>
            </a:pPr>
            <a:r>
              <a:rPr lang="en-US" sz="800" dirty="0">
                <a:solidFill>
                  <a:srgbClr val="D9E1FF"/>
                </a:solidFill>
                <a:latin typeface="Kanit" pitchFamily="34" charset="0"/>
                <a:ea typeface="Kanit" pitchFamily="34" charset="-122"/>
                <a:cs typeface="Kanit" pitchFamily="34" charset="-120"/>
              </a:rPr>
              <a:t>Future Enhancements</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23577" y="492026"/>
            <a:ext cx="3537421" cy="384944"/>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Kanit" pitchFamily="34" charset="0"/>
                <a:ea typeface="Kanit" pitchFamily="34" charset="-122"/>
                <a:cs typeface="Kanit" pitchFamily="34" charset="-120"/>
              </a:rPr>
              <a:t>Introduction</a:t>
            </a:r>
            <a:endParaRPr lang="en-US" sz="2400" dirty="0"/>
          </a:p>
        </p:txBody>
      </p:sp>
      <p:sp>
        <p:nvSpPr>
          <p:cNvPr id="4" name="Text 1"/>
          <p:cNvSpPr/>
          <p:nvPr/>
        </p:nvSpPr>
        <p:spPr>
          <a:xfrm>
            <a:off x="523577" y="1073274"/>
            <a:ext cx="4667845" cy="203187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Traditional classroom monitoring relies on manual observation — a method that is </a:t>
            </a:r>
            <a:r>
              <a:rPr lang="en-US" sz="1000" b="1" dirty="0">
                <a:solidFill>
                  <a:srgbClr val="D9E1FF"/>
                </a:solidFill>
                <a:latin typeface="Martel Sans Light" pitchFamily="34" charset="0"/>
                <a:ea typeface="Martel Sans Light" pitchFamily="34" charset="-122"/>
                <a:cs typeface="Martel Sans Light" pitchFamily="34" charset="-120"/>
              </a:rPr>
              <a:t>time-consuming, inconsistent, and unable to scale</a:t>
            </a:r>
            <a:r>
              <a:rPr lang="en-US" sz="1000" dirty="0">
                <a:solidFill>
                  <a:srgbClr val="D9E1FF"/>
                </a:solidFill>
                <a:latin typeface="Martel Sans Light" pitchFamily="34" charset="0"/>
                <a:ea typeface="Martel Sans Light" pitchFamily="34" charset="-122"/>
                <a:cs typeface="Martel Sans Light" pitchFamily="34" charset="-120"/>
              </a:rPr>
              <a:t> across large student groups. Teachers struggle to track attention levels across an entire classroom simultaneously, often missing subtle cues of disengagement.</a:t>
            </a:r>
            <a:endParaRPr lang="en-US" sz="1000" dirty="0"/>
          </a:p>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This project proposes an </a:t>
            </a:r>
            <a:r>
              <a:rPr lang="en-US" sz="1000" b="1" dirty="0">
                <a:solidFill>
                  <a:srgbClr val="D9E1FF"/>
                </a:solidFill>
                <a:latin typeface="Martel Sans Light" pitchFamily="34" charset="0"/>
                <a:ea typeface="Martel Sans Light" pitchFamily="34" charset="-122"/>
                <a:cs typeface="Martel Sans Light" pitchFamily="34" charset="-120"/>
              </a:rPr>
              <a:t>AI-powered solution</a:t>
            </a:r>
            <a:r>
              <a:rPr lang="en-US" sz="1000" dirty="0">
                <a:solidFill>
                  <a:srgbClr val="D9E1FF"/>
                </a:solidFill>
                <a:latin typeface="Martel Sans Light" pitchFamily="34" charset="0"/>
                <a:ea typeface="Martel Sans Light" pitchFamily="34" charset="-122"/>
                <a:cs typeface="Martel Sans Light" pitchFamily="34" charset="-120"/>
              </a:rPr>
              <a:t> that leverages Computer Vision and facial landmark detection to automate engagement monitoring. The system processes live or recorded classroom video, identifies student behavior patterns, and generates </a:t>
            </a:r>
            <a:r>
              <a:rPr lang="en-US" sz="1000" b="1" dirty="0">
                <a:solidFill>
                  <a:srgbClr val="D9E1FF"/>
                </a:solidFill>
                <a:latin typeface="Martel Sans Light" pitchFamily="34" charset="0"/>
                <a:ea typeface="Martel Sans Light" pitchFamily="34" charset="-122"/>
                <a:cs typeface="Martel Sans Light" pitchFamily="34" charset="-120"/>
              </a:rPr>
              <a:t>real-time analytics and visual reports</a:t>
            </a:r>
            <a:r>
              <a:rPr lang="en-US" sz="1000" dirty="0">
                <a:solidFill>
                  <a:srgbClr val="D9E1FF"/>
                </a:solidFill>
                <a:latin typeface="Martel Sans Light" pitchFamily="34" charset="0"/>
                <a:ea typeface="Martel Sans Light" pitchFamily="34" charset="-122"/>
                <a:cs typeface="Martel Sans Light" pitchFamily="34" charset="-120"/>
              </a:rPr>
              <a:t> — empowering educators with actionable insights.</a:t>
            </a:r>
            <a:endParaRPr lang="en-US" sz="10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290" y="3252415"/>
            <a:ext cx="1482923" cy="1398984"/>
          </a:xfrm>
          <a:prstGeom prst="rect">
            <a:avLst/>
          </a:prstGeom>
        </p:spPr>
      </p:pic>
      <p:sp>
        <p:nvSpPr>
          <p:cNvPr id="6" name="Text 2"/>
          <p:cNvSpPr/>
          <p:nvPr/>
        </p:nvSpPr>
        <p:spPr>
          <a:xfrm>
            <a:off x="711622" y="3397597"/>
            <a:ext cx="1135410"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Problem</a:t>
            </a:r>
            <a:endParaRPr lang="en-US" sz="1200" dirty="0"/>
          </a:p>
        </p:txBody>
      </p:sp>
      <p:sp>
        <p:nvSpPr>
          <p:cNvPr id="7" name="Text 3"/>
          <p:cNvSpPr/>
          <p:nvPr/>
        </p:nvSpPr>
        <p:spPr>
          <a:xfrm>
            <a:off x="711622" y="3668613"/>
            <a:ext cx="1135410"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Manual monitoring is slow and error-prone</a:t>
            </a:r>
            <a:endParaRPr lang="en-US" sz="10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8820" y="3252415"/>
            <a:ext cx="1482998" cy="1398984"/>
          </a:xfrm>
          <a:prstGeom prst="rect">
            <a:avLst/>
          </a:prstGeom>
        </p:spPr>
      </p:pic>
      <p:sp>
        <p:nvSpPr>
          <p:cNvPr id="9" name="Text 4"/>
          <p:cNvSpPr/>
          <p:nvPr/>
        </p:nvSpPr>
        <p:spPr>
          <a:xfrm>
            <a:off x="2311152" y="3397597"/>
            <a:ext cx="1135484"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Solution</a:t>
            </a:r>
            <a:endParaRPr lang="en-US" sz="1200" dirty="0"/>
          </a:p>
        </p:txBody>
      </p:sp>
      <p:sp>
        <p:nvSpPr>
          <p:cNvPr id="10" name="Text 5"/>
          <p:cNvSpPr/>
          <p:nvPr/>
        </p:nvSpPr>
        <p:spPr>
          <a:xfrm>
            <a:off x="2311152" y="3668613"/>
            <a:ext cx="1135484" cy="83760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AI + Computer Vision for automated analysis</a:t>
            </a:r>
            <a:endParaRPr lang="en-US" sz="10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08425" y="3252415"/>
            <a:ext cx="1482923" cy="1398984"/>
          </a:xfrm>
          <a:prstGeom prst="rect">
            <a:avLst/>
          </a:prstGeom>
        </p:spPr>
      </p:pic>
      <p:sp>
        <p:nvSpPr>
          <p:cNvPr id="12" name="Text 6"/>
          <p:cNvSpPr/>
          <p:nvPr/>
        </p:nvSpPr>
        <p:spPr>
          <a:xfrm>
            <a:off x="3910757" y="3397597"/>
            <a:ext cx="1135410"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Output</a:t>
            </a:r>
            <a:endParaRPr lang="en-US" sz="1200" dirty="0"/>
          </a:p>
        </p:txBody>
      </p:sp>
      <p:sp>
        <p:nvSpPr>
          <p:cNvPr id="13" name="Text 7"/>
          <p:cNvSpPr/>
          <p:nvPr/>
        </p:nvSpPr>
        <p:spPr>
          <a:xfrm>
            <a:off x="3910757" y="3668613"/>
            <a:ext cx="1135410" cy="83760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Real-time engagement reports and heatmaps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9095" y="365745"/>
            <a:ext cx="3393058" cy="366936"/>
          </a:xfrm>
          <a:prstGeom prst="rect">
            <a:avLst/>
          </a:prstGeom>
          <a:noFill/>
          <a:ln/>
        </p:spPr>
        <p:txBody>
          <a:bodyPr wrap="none" lIns="0" tIns="0" rIns="0" bIns="0" rtlCol="0" anchor="t"/>
          <a:lstStyle/>
          <a:p>
            <a:pPr marL="0" indent="0" algn="l">
              <a:lnSpc>
                <a:spcPct val="104000"/>
              </a:lnSpc>
              <a:buNone/>
            </a:pPr>
            <a:r>
              <a:rPr lang="en-US" sz="2300" dirty="0">
                <a:solidFill>
                  <a:srgbClr val="FFFFFF"/>
                </a:solidFill>
                <a:latin typeface="Kanit" pitchFamily="34" charset="0"/>
                <a:ea typeface="Kanit" pitchFamily="34" charset="-122"/>
                <a:cs typeface="Kanit" pitchFamily="34" charset="-120"/>
              </a:rPr>
              <a:t>Project Objectives</a:t>
            </a:r>
            <a:endParaRPr lang="en-US" sz="2300" dirty="0"/>
          </a:p>
        </p:txBody>
      </p:sp>
      <p:sp>
        <p:nvSpPr>
          <p:cNvPr id="3" name="Text 1"/>
          <p:cNvSpPr/>
          <p:nvPr/>
        </p:nvSpPr>
        <p:spPr>
          <a:xfrm>
            <a:off x="499095" y="970508"/>
            <a:ext cx="8145810" cy="389930"/>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D9E1FF"/>
                </a:solidFill>
                <a:latin typeface="Martel Sans Light" pitchFamily="34" charset="0"/>
                <a:ea typeface="Martel Sans Light" pitchFamily="34" charset="-122"/>
                <a:cs typeface="Martel Sans Light" pitchFamily="34" charset="-120"/>
              </a:rPr>
              <a:t>The system is designed with five core objectives that collectively transform passive observation into intelligent, data-driven classroom management.</a:t>
            </a:r>
            <a:endParaRPr lang="en-US" sz="950" dirty="0"/>
          </a:p>
        </p:txBody>
      </p:sp>
      <p:sp>
        <p:nvSpPr>
          <p:cNvPr id="4" name="Shape 2"/>
          <p:cNvSpPr/>
          <p:nvPr/>
        </p:nvSpPr>
        <p:spPr>
          <a:xfrm>
            <a:off x="499095" y="1494160"/>
            <a:ext cx="2635969" cy="1777305"/>
          </a:xfrm>
          <a:prstGeom prst="roundRect">
            <a:avLst>
              <a:gd name="adj" fmla="val 1053"/>
            </a:avLst>
          </a:prstGeom>
          <a:solidFill>
            <a:srgbClr val="2F2B54"/>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623813" y="1618878"/>
            <a:ext cx="374303" cy="374303"/>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728" y="1721793"/>
            <a:ext cx="168399" cy="168399"/>
          </a:xfrm>
          <a:prstGeom prst="rect">
            <a:avLst/>
          </a:prstGeom>
        </p:spPr>
      </p:pic>
      <p:sp>
        <p:nvSpPr>
          <p:cNvPr id="7" name="Text 3"/>
          <p:cNvSpPr/>
          <p:nvPr/>
        </p:nvSpPr>
        <p:spPr>
          <a:xfrm>
            <a:off x="623813" y="2112094"/>
            <a:ext cx="1467892" cy="183505"/>
          </a:xfrm>
          <a:prstGeom prst="rect">
            <a:avLst/>
          </a:prstGeom>
          <a:noFill/>
          <a:ln/>
        </p:spPr>
        <p:txBody>
          <a:bodyPr wrap="none" lIns="0" tIns="0" rIns="0" bIns="0" rtlCol="0" anchor="t"/>
          <a:lstStyle/>
          <a:p>
            <a:pPr marL="0" indent="0" algn="l">
              <a:lnSpc>
                <a:spcPct val="104000"/>
              </a:lnSpc>
              <a:buNone/>
            </a:pPr>
            <a:r>
              <a:rPr lang="en-US" sz="1150" dirty="0">
                <a:solidFill>
                  <a:srgbClr val="D9E1FF"/>
                </a:solidFill>
                <a:latin typeface="Kanit" pitchFamily="34" charset="0"/>
                <a:ea typeface="Kanit" pitchFamily="34" charset="-122"/>
                <a:cs typeface="Kanit" pitchFamily="34" charset="-120"/>
              </a:rPr>
              <a:t>Real-Time Monitoring</a:t>
            </a:r>
            <a:endParaRPr lang="en-US" sz="1150" dirty="0"/>
          </a:p>
        </p:txBody>
      </p:sp>
      <p:sp>
        <p:nvSpPr>
          <p:cNvPr id="8" name="Text 4"/>
          <p:cNvSpPr/>
          <p:nvPr/>
        </p:nvSpPr>
        <p:spPr>
          <a:xfrm>
            <a:off x="623813" y="2366888"/>
            <a:ext cx="2386533" cy="584895"/>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D9E1FF"/>
                </a:solidFill>
                <a:latin typeface="Martel Sans Light" pitchFamily="34" charset="0"/>
                <a:ea typeface="Martel Sans Light" pitchFamily="34" charset="-122"/>
                <a:cs typeface="Martel Sans Light" pitchFamily="34" charset="-120"/>
              </a:rPr>
              <a:t>Continuously track student engagement levels during live classroom sessions using webcam or video input.</a:t>
            </a:r>
            <a:endParaRPr lang="en-US" sz="950" dirty="0"/>
          </a:p>
        </p:txBody>
      </p:sp>
      <p:sp>
        <p:nvSpPr>
          <p:cNvPr id="9" name="Shape 5"/>
          <p:cNvSpPr/>
          <p:nvPr/>
        </p:nvSpPr>
        <p:spPr>
          <a:xfrm>
            <a:off x="3253978" y="1494160"/>
            <a:ext cx="2635969" cy="1777305"/>
          </a:xfrm>
          <a:prstGeom prst="roundRect">
            <a:avLst>
              <a:gd name="adj" fmla="val 1053"/>
            </a:avLst>
          </a:prstGeom>
          <a:solidFill>
            <a:srgbClr val="2F2B54"/>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3378696" y="1618878"/>
            <a:ext cx="374303" cy="374303"/>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81611" y="1721793"/>
            <a:ext cx="168399" cy="168399"/>
          </a:xfrm>
          <a:prstGeom prst="rect">
            <a:avLst/>
          </a:prstGeom>
        </p:spPr>
      </p:pic>
      <p:sp>
        <p:nvSpPr>
          <p:cNvPr id="12" name="Text 6"/>
          <p:cNvSpPr/>
          <p:nvPr/>
        </p:nvSpPr>
        <p:spPr>
          <a:xfrm>
            <a:off x="3378696" y="2112094"/>
            <a:ext cx="1467892" cy="183505"/>
          </a:xfrm>
          <a:prstGeom prst="rect">
            <a:avLst/>
          </a:prstGeom>
          <a:noFill/>
          <a:ln/>
        </p:spPr>
        <p:txBody>
          <a:bodyPr wrap="none" lIns="0" tIns="0" rIns="0" bIns="0" rtlCol="0" anchor="t"/>
          <a:lstStyle/>
          <a:p>
            <a:pPr marL="0" indent="0" algn="l">
              <a:lnSpc>
                <a:spcPct val="104000"/>
              </a:lnSpc>
              <a:buNone/>
            </a:pPr>
            <a:r>
              <a:rPr lang="en-US" sz="1150" dirty="0">
                <a:solidFill>
                  <a:srgbClr val="D9E1FF"/>
                </a:solidFill>
                <a:latin typeface="Kanit" pitchFamily="34" charset="0"/>
                <a:ea typeface="Kanit" pitchFamily="34" charset="-122"/>
                <a:cs typeface="Kanit" pitchFamily="34" charset="-120"/>
              </a:rPr>
              <a:t>Behavior Detection</a:t>
            </a:r>
            <a:endParaRPr lang="en-US" sz="1150" dirty="0"/>
          </a:p>
        </p:txBody>
      </p:sp>
      <p:sp>
        <p:nvSpPr>
          <p:cNvPr id="13" name="Text 7"/>
          <p:cNvSpPr/>
          <p:nvPr/>
        </p:nvSpPr>
        <p:spPr>
          <a:xfrm>
            <a:off x="3378696" y="2366888"/>
            <a:ext cx="2386533" cy="584895"/>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D9E1FF"/>
                </a:solidFill>
                <a:latin typeface="Martel Sans Light" pitchFamily="34" charset="0"/>
                <a:ea typeface="Martel Sans Light" pitchFamily="34" charset="-122"/>
                <a:cs typeface="Martel Sans Light" pitchFamily="34" charset="-120"/>
              </a:rPr>
              <a:t>Automatically classify students as attentive, distracted, or sleepy using facial landmark and head-pose analysis.</a:t>
            </a:r>
            <a:endParaRPr lang="en-US" sz="950" dirty="0"/>
          </a:p>
        </p:txBody>
      </p:sp>
      <p:sp>
        <p:nvSpPr>
          <p:cNvPr id="14" name="Shape 8"/>
          <p:cNvSpPr/>
          <p:nvPr/>
        </p:nvSpPr>
        <p:spPr>
          <a:xfrm>
            <a:off x="6008861" y="1494160"/>
            <a:ext cx="2635969" cy="1777305"/>
          </a:xfrm>
          <a:prstGeom prst="roundRect">
            <a:avLst>
              <a:gd name="adj" fmla="val 1053"/>
            </a:avLst>
          </a:prstGeom>
          <a:solidFill>
            <a:srgbClr val="2F2B54"/>
          </a:solidFill>
          <a:ln/>
        </p:spPr>
        <p:txBody>
          <a:bodyPr/>
          <a:lstStyle/>
          <a:p>
            <a:endParaRPr lang="en-US"/>
          </a:p>
        </p:txBody>
      </p:sp>
      <p:pic>
        <p:nvPicPr>
          <p:cNvPr id="15" name="Image 4" descr="preencoded.png"/>
          <p:cNvPicPr>
            <a:picLocks noChangeAspect="1"/>
          </p:cNvPicPr>
          <p:nvPr/>
        </p:nvPicPr>
        <p:blipFill>
          <a:blip r:embed="rId7"/>
          <a:stretch>
            <a:fillRect/>
          </a:stretch>
        </p:blipFill>
        <p:spPr>
          <a:xfrm>
            <a:off x="6133579" y="1618878"/>
            <a:ext cx="374303" cy="374303"/>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36494" y="1721793"/>
            <a:ext cx="168399" cy="168399"/>
          </a:xfrm>
          <a:prstGeom prst="rect">
            <a:avLst/>
          </a:prstGeom>
        </p:spPr>
      </p:pic>
      <p:sp>
        <p:nvSpPr>
          <p:cNvPr id="17" name="Text 9"/>
          <p:cNvSpPr/>
          <p:nvPr/>
        </p:nvSpPr>
        <p:spPr>
          <a:xfrm>
            <a:off x="6133579" y="2112094"/>
            <a:ext cx="1467892" cy="183505"/>
          </a:xfrm>
          <a:prstGeom prst="rect">
            <a:avLst/>
          </a:prstGeom>
          <a:noFill/>
          <a:ln/>
        </p:spPr>
        <p:txBody>
          <a:bodyPr wrap="none" lIns="0" tIns="0" rIns="0" bIns="0" rtlCol="0" anchor="t"/>
          <a:lstStyle/>
          <a:p>
            <a:pPr marL="0" indent="0" algn="l">
              <a:lnSpc>
                <a:spcPct val="104000"/>
              </a:lnSpc>
              <a:buNone/>
            </a:pPr>
            <a:r>
              <a:rPr lang="en-US" sz="1150" dirty="0">
                <a:solidFill>
                  <a:srgbClr val="D9E1FF"/>
                </a:solidFill>
                <a:latin typeface="Kanit" pitchFamily="34" charset="0"/>
                <a:ea typeface="Kanit" pitchFamily="34" charset="-122"/>
                <a:cs typeface="Kanit" pitchFamily="34" charset="-120"/>
              </a:rPr>
              <a:t>Pattern Analysis</a:t>
            </a:r>
            <a:endParaRPr lang="en-US" sz="1150" dirty="0"/>
          </a:p>
        </p:txBody>
      </p:sp>
      <p:sp>
        <p:nvSpPr>
          <p:cNvPr id="18" name="Text 10"/>
          <p:cNvSpPr/>
          <p:nvPr/>
        </p:nvSpPr>
        <p:spPr>
          <a:xfrm>
            <a:off x="6133579" y="2366888"/>
            <a:ext cx="2386533" cy="779859"/>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D9E1FF"/>
                </a:solidFill>
                <a:latin typeface="Martel Sans Light" pitchFamily="34" charset="0"/>
                <a:ea typeface="Martel Sans Light" pitchFamily="34" charset="-122"/>
                <a:cs typeface="Martel Sans Light" pitchFamily="34" charset="-120"/>
              </a:rPr>
              <a:t>Identify recurring behavioral patterns across sessions to help teachers understand long-term engagement trends.</a:t>
            </a:r>
            <a:endParaRPr lang="en-US" sz="950" dirty="0"/>
          </a:p>
        </p:txBody>
      </p:sp>
      <p:sp>
        <p:nvSpPr>
          <p:cNvPr id="19" name="Shape 11"/>
          <p:cNvSpPr/>
          <p:nvPr/>
        </p:nvSpPr>
        <p:spPr>
          <a:xfrm>
            <a:off x="499095" y="3390379"/>
            <a:ext cx="4013374" cy="1387376"/>
          </a:xfrm>
          <a:prstGeom prst="roundRect">
            <a:avLst>
              <a:gd name="adj" fmla="val 1349"/>
            </a:avLst>
          </a:prstGeom>
          <a:solidFill>
            <a:srgbClr val="2F2B54"/>
          </a:solidFill>
          <a:ln/>
        </p:spPr>
        <p:txBody>
          <a:bodyPr/>
          <a:lstStyle/>
          <a:p>
            <a:endParaRPr lang="en-US"/>
          </a:p>
        </p:txBody>
      </p:sp>
      <p:pic>
        <p:nvPicPr>
          <p:cNvPr id="20" name="Image 6" descr="preencoded.png"/>
          <p:cNvPicPr>
            <a:picLocks noChangeAspect="1"/>
          </p:cNvPicPr>
          <p:nvPr/>
        </p:nvPicPr>
        <p:blipFill>
          <a:blip r:embed="rId9"/>
          <a:stretch>
            <a:fillRect/>
          </a:stretch>
        </p:blipFill>
        <p:spPr>
          <a:xfrm>
            <a:off x="623813" y="3515097"/>
            <a:ext cx="374303" cy="374303"/>
          </a:xfrm>
          <a:prstGeom prst="rect">
            <a:avLst/>
          </a:prstGeom>
        </p:spPr>
      </p:pic>
      <p:pic>
        <p:nvPicPr>
          <p:cNvPr id="2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26728" y="3618012"/>
            <a:ext cx="168399" cy="168399"/>
          </a:xfrm>
          <a:prstGeom prst="rect">
            <a:avLst/>
          </a:prstGeom>
        </p:spPr>
      </p:pic>
      <p:sp>
        <p:nvSpPr>
          <p:cNvPr id="22" name="Text 12"/>
          <p:cNvSpPr/>
          <p:nvPr/>
        </p:nvSpPr>
        <p:spPr>
          <a:xfrm>
            <a:off x="623813" y="4008313"/>
            <a:ext cx="1467892" cy="183505"/>
          </a:xfrm>
          <a:prstGeom prst="rect">
            <a:avLst/>
          </a:prstGeom>
          <a:noFill/>
          <a:ln/>
        </p:spPr>
        <p:txBody>
          <a:bodyPr wrap="none" lIns="0" tIns="0" rIns="0" bIns="0" rtlCol="0" anchor="t"/>
          <a:lstStyle/>
          <a:p>
            <a:pPr marL="0" indent="0" algn="l">
              <a:lnSpc>
                <a:spcPct val="104000"/>
              </a:lnSpc>
              <a:buNone/>
            </a:pPr>
            <a:r>
              <a:rPr lang="en-US" sz="1150" dirty="0">
                <a:solidFill>
                  <a:srgbClr val="D9E1FF"/>
                </a:solidFill>
                <a:latin typeface="Kanit" pitchFamily="34" charset="0"/>
                <a:ea typeface="Kanit" pitchFamily="34" charset="-122"/>
                <a:cs typeface="Kanit" pitchFamily="34" charset="-120"/>
              </a:rPr>
              <a:t>Reports &amp; Heatmaps</a:t>
            </a:r>
            <a:endParaRPr lang="en-US" sz="1150" dirty="0"/>
          </a:p>
        </p:txBody>
      </p:sp>
      <p:sp>
        <p:nvSpPr>
          <p:cNvPr id="23" name="Text 13"/>
          <p:cNvSpPr/>
          <p:nvPr/>
        </p:nvSpPr>
        <p:spPr>
          <a:xfrm>
            <a:off x="623813" y="4263107"/>
            <a:ext cx="3763938" cy="389930"/>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D9E1FF"/>
                </a:solidFill>
                <a:latin typeface="Martel Sans Light" pitchFamily="34" charset="0"/>
                <a:ea typeface="Martel Sans Light" pitchFamily="34" charset="-122"/>
                <a:cs typeface="Martel Sans Light" pitchFamily="34" charset="-120"/>
              </a:rPr>
              <a:t>Generate visual engagement reports and classroom heatmaps that highlight distraction zones automatically.</a:t>
            </a:r>
            <a:endParaRPr lang="en-US" sz="950" dirty="0"/>
          </a:p>
        </p:txBody>
      </p:sp>
      <p:sp>
        <p:nvSpPr>
          <p:cNvPr id="24" name="Shape 14"/>
          <p:cNvSpPr/>
          <p:nvPr/>
        </p:nvSpPr>
        <p:spPr>
          <a:xfrm>
            <a:off x="4631382" y="3390379"/>
            <a:ext cx="4013448" cy="1387376"/>
          </a:xfrm>
          <a:prstGeom prst="roundRect">
            <a:avLst>
              <a:gd name="adj" fmla="val 1349"/>
            </a:avLst>
          </a:prstGeom>
          <a:solidFill>
            <a:srgbClr val="2F2B54"/>
          </a:solidFill>
          <a:ln/>
        </p:spPr>
        <p:txBody>
          <a:bodyPr/>
          <a:lstStyle/>
          <a:p>
            <a:endParaRPr lang="en-US"/>
          </a:p>
        </p:txBody>
      </p:sp>
      <p:pic>
        <p:nvPicPr>
          <p:cNvPr id="25" name="Image 8" descr="preencoded.png"/>
          <p:cNvPicPr>
            <a:picLocks noChangeAspect="1"/>
          </p:cNvPicPr>
          <p:nvPr/>
        </p:nvPicPr>
        <p:blipFill>
          <a:blip r:embed="rId11"/>
          <a:stretch>
            <a:fillRect/>
          </a:stretch>
        </p:blipFill>
        <p:spPr>
          <a:xfrm>
            <a:off x="4756100" y="3515097"/>
            <a:ext cx="374303" cy="374303"/>
          </a:xfrm>
          <a:prstGeom prst="rect">
            <a:avLst/>
          </a:prstGeom>
        </p:spPr>
      </p:pic>
      <p:pic>
        <p:nvPicPr>
          <p:cNvPr id="2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59015" y="3618012"/>
            <a:ext cx="168399" cy="168399"/>
          </a:xfrm>
          <a:prstGeom prst="rect">
            <a:avLst/>
          </a:prstGeom>
        </p:spPr>
      </p:pic>
      <p:sp>
        <p:nvSpPr>
          <p:cNvPr id="27" name="Text 15"/>
          <p:cNvSpPr/>
          <p:nvPr/>
        </p:nvSpPr>
        <p:spPr>
          <a:xfrm>
            <a:off x="4756100" y="4008313"/>
            <a:ext cx="1489323" cy="183505"/>
          </a:xfrm>
          <a:prstGeom prst="rect">
            <a:avLst/>
          </a:prstGeom>
          <a:noFill/>
          <a:ln/>
        </p:spPr>
        <p:txBody>
          <a:bodyPr wrap="none" lIns="0" tIns="0" rIns="0" bIns="0" rtlCol="0" anchor="t"/>
          <a:lstStyle/>
          <a:p>
            <a:pPr marL="0" indent="0" algn="l">
              <a:lnSpc>
                <a:spcPct val="104000"/>
              </a:lnSpc>
              <a:buNone/>
            </a:pPr>
            <a:r>
              <a:rPr lang="en-US" sz="1150" dirty="0">
                <a:solidFill>
                  <a:srgbClr val="D9E1FF"/>
                </a:solidFill>
                <a:latin typeface="Kanit" pitchFamily="34" charset="0"/>
                <a:ea typeface="Kanit" pitchFamily="34" charset="-122"/>
                <a:cs typeface="Kanit" pitchFamily="34" charset="-120"/>
              </a:rPr>
              <a:t>Teaching Effectiveness</a:t>
            </a:r>
            <a:endParaRPr lang="en-US" sz="1150" dirty="0"/>
          </a:p>
        </p:txBody>
      </p:sp>
      <p:sp>
        <p:nvSpPr>
          <p:cNvPr id="28" name="Text 16"/>
          <p:cNvSpPr/>
          <p:nvPr/>
        </p:nvSpPr>
        <p:spPr>
          <a:xfrm>
            <a:off x="4756100" y="4263107"/>
            <a:ext cx="3764012" cy="389930"/>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D9E1FF"/>
                </a:solidFill>
                <a:latin typeface="Martel Sans Light" pitchFamily="34" charset="0"/>
                <a:ea typeface="Martel Sans Light" pitchFamily="34" charset="-122"/>
                <a:cs typeface="Martel Sans Light" pitchFamily="34" charset="-120"/>
              </a:rPr>
              <a:t>Provide educators with AI-driven insights to adapt teaching strategies and improve overall classroom outcomes.</a:t>
            </a:r>
            <a:endParaRPr lang="en-US" sz="950" dirty="0"/>
          </a:p>
        </p:txBody>
      </p:sp>
      <p:pic>
        <p:nvPicPr>
          <p:cNvPr id="29" name="Picture 28">
            <a:extLst>
              <a:ext uri="{FF2B5EF4-FFF2-40B4-BE49-F238E27FC236}">
                <a16:creationId xmlns:a16="http://schemas.microsoft.com/office/drawing/2014/main" id="{F01C2E0B-4E87-C865-71A8-AF4AB7BB29D4}"/>
              </a:ext>
            </a:extLst>
          </p:cNvPr>
          <p:cNvPicPr>
            <a:picLocks noChangeAspect="1"/>
          </p:cNvPicPr>
          <p:nvPr/>
        </p:nvPicPr>
        <p:blipFill>
          <a:blip r:embed="rId13"/>
          <a:stretch>
            <a:fillRect/>
          </a:stretch>
        </p:blipFill>
        <p:spPr>
          <a:xfrm>
            <a:off x="7855527" y="4780407"/>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32074" y="281955"/>
            <a:ext cx="2574875" cy="264691"/>
          </a:xfrm>
          <a:prstGeom prst="rect">
            <a:avLst/>
          </a:prstGeom>
          <a:noFill/>
          <a:ln/>
        </p:spPr>
        <p:txBody>
          <a:bodyPr wrap="none" lIns="0" tIns="0" rIns="0" bIns="0" rtlCol="0" anchor="t"/>
          <a:lstStyle/>
          <a:p>
            <a:pPr marL="0" indent="0" algn="l">
              <a:lnSpc>
                <a:spcPct val="104000"/>
              </a:lnSpc>
              <a:buNone/>
            </a:pPr>
            <a:r>
              <a:rPr lang="en-US" sz="1650" dirty="0">
                <a:solidFill>
                  <a:srgbClr val="FFFFFF"/>
                </a:solidFill>
                <a:latin typeface="Kanit" pitchFamily="34" charset="0"/>
                <a:ea typeface="Kanit" pitchFamily="34" charset="-122"/>
                <a:cs typeface="Kanit" pitchFamily="34" charset="-120"/>
              </a:rPr>
              <a:t>Technologies Used</a:t>
            </a:r>
            <a:endParaRPr lang="en-US" sz="1650" dirty="0"/>
          </a:p>
        </p:txBody>
      </p:sp>
      <p:sp>
        <p:nvSpPr>
          <p:cNvPr id="3" name="Text 1"/>
          <p:cNvSpPr/>
          <p:nvPr/>
        </p:nvSpPr>
        <p:spPr>
          <a:xfrm>
            <a:off x="1232074" y="670396"/>
            <a:ext cx="6679778" cy="242888"/>
          </a:xfrm>
          <a:prstGeom prst="rect">
            <a:avLst/>
          </a:prstGeom>
          <a:noFill/>
          <a:ln/>
        </p:spPr>
        <p:txBody>
          <a:bodyPr wrap="square" lIns="0" tIns="0" rIns="0" bIns="0" rtlCol="0" anchor="t">
            <a:normAutofit/>
          </a:bodyPr>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The project is built on a modern, open-source technology stack selected for reliability, performance, and strong community support in AI and computer vision applications.</a:t>
            </a:r>
            <a:endParaRPr lang="en-US" sz="700" dirty="0"/>
          </a:p>
        </p:txBody>
      </p:sp>
      <p:sp>
        <p:nvSpPr>
          <p:cNvPr id="4" name="Shape 2"/>
          <p:cNvSpPr/>
          <p:nvPr/>
        </p:nvSpPr>
        <p:spPr>
          <a:xfrm>
            <a:off x="1232074" y="1621854"/>
            <a:ext cx="2885108" cy="2103239"/>
          </a:xfrm>
          <a:prstGeom prst="roundRect">
            <a:avLst>
              <a:gd name="adj" fmla="val 642"/>
            </a:avLst>
          </a:prstGeom>
          <a:noFill/>
          <a:ln w="4763">
            <a:solidFill>
              <a:srgbClr val="FFFFFF">
                <a:alpha val="24000"/>
              </a:srgbClr>
            </a:solidFill>
            <a:prstDash val="solid"/>
          </a:ln>
        </p:spPr>
        <p:txBody>
          <a:bodyPr/>
          <a:lstStyle/>
          <a:p>
            <a:endParaRPr lang="en-US"/>
          </a:p>
        </p:txBody>
      </p:sp>
      <p:sp>
        <p:nvSpPr>
          <p:cNvPr id="5" name="Text 3"/>
          <p:cNvSpPr/>
          <p:nvPr/>
        </p:nvSpPr>
        <p:spPr>
          <a:xfrm>
            <a:off x="1326877" y="1668438"/>
            <a:ext cx="1712640" cy="121444"/>
          </a:xfrm>
          <a:prstGeom prst="rect">
            <a:avLst/>
          </a:prstGeom>
          <a:noFill/>
          <a:ln/>
        </p:spPr>
        <p:txBody>
          <a:bodyPr wrap="none" lIns="0" tIns="0" rIns="0" bIns="0" rtlCol="0" anchor="t"/>
          <a:lstStyle/>
          <a:p>
            <a:pPr marL="0" indent="0" algn="l">
              <a:lnSpc>
                <a:spcPct val="113000"/>
              </a:lnSpc>
              <a:buNone/>
            </a:pPr>
            <a:r>
              <a:rPr lang="en-US" sz="700" b="1" dirty="0">
                <a:solidFill>
                  <a:srgbClr val="D9E1FF"/>
                </a:solidFill>
                <a:latin typeface="Martel Sans Light" pitchFamily="34" charset="0"/>
                <a:ea typeface="Martel Sans Light" pitchFamily="34" charset="-122"/>
                <a:cs typeface="Martel Sans Light" pitchFamily="34" charset="-120"/>
              </a:rPr>
              <a:t>Technology</a:t>
            </a:r>
            <a:endParaRPr lang="en-US" sz="700" dirty="0"/>
          </a:p>
        </p:txBody>
      </p:sp>
      <p:sp>
        <p:nvSpPr>
          <p:cNvPr id="6" name="Text 4"/>
          <p:cNvSpPr/>
          <p:nvPr/>
        </p:nvSpPr>
        <p:spPr>
          <a:xfrm>
            <a:off x="2767013" y="1668438"/>
            <a:ext cx="1712640" cy="121444"/>
          </a:xfrm>
          <a:prstGeom prst="rect">
            <a:avLst/>
          </a:prstGeom>
          <a:noFill/>
          <a:ln/>
        </p:spPr>
        <p:txBody>
          <a:bodyPr wrap="none" lIns="0" tIns="0" rIns="0" bIns="0" rtlCol="0" anchor="t"/>
          <a:lstStyle/>
          <a:p>
            <a:pPr marL="0" indent="0" algn="l">
              <a:lnSpc>
                <a:spcPct val="113000"/>
              </a:lnSpc>
              <a:buNone/>
            </a:pPr>
            <a:r>
              <a:rPr lang="en-US" sz="700" b="1" dirty="0">
                <a:solidFill>
                  <a:srgbClr val="D9E1FF"/>
                </a:solidFill>
                <a:latin typeface="Martel Sans Light" pitchFamily="34" charset="0"/>
                <a:ea typeface="Martel Sans Light" pitchFamily="34" charset="-122"/>
                <a:cs typeface="Martel Sans Light" pitchFamily="34" charset="-120"/>
              </a:rPr>
              <a:t>Role</a:t>
            </a:r>
            <a:endParaRPr lang="en-US" sz="700" dirty="0"/>
          </a:p>
        </p:txBody>
      </p:sp>
      <p:sp>
        <p:nvSpPr>
          <p:cNvPr id="7" name="Text 5"/>
          <p:cNvSpPr/>
          <p:nvPr/>
        </p:nvSpPr>
        <p:spPr>
          <a:xfrm>
            <a:off x="1326877" y="1878285"/>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Python</a:t>
            </a:r>
            <a:endParaRPr lang="en-US" sz="700" dirty="0"/>
          </a:p>
        </p:txBody>
      </p:sp>
      <p:sp>
        <p:nvSpPr>
          <p:cNvPr id="8" name="Text 6"/>
          <p:cNvSpPr/>
          <p:nvPr/>
        </p:nvSpPr>
        <p:spPr>
          <a:xfrm>
            <a:off x="2767013" y="1878285"/>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Core programming language</a:t>
            </a:r>
            <a:endParaRPr lang="en-US" sz="700" dirty="0"/>
          </a:p>
        </p:txBody>
      </p:sp>
      <p:sp>
        <p:nvSpPr>
          <p:cNvPr id="9" name="Text 7"/>
          <p:cNvSpPr/>
          <p:nvPr/>
        </p:nvSpPr>
        <p:spPr>
          <a:xfrm>
            <a:off x="1326877" y="2088133"/>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Django</a:t>
            </a:r>
            <a:endParaRPr lang="en-US" sz="700" dirty="0"/>
          </a:p>
        </p:txBody>
      </p:sp>
      <p:sp>
        <p:nvSpPr>
          <p:cNvPr id="10" name="Text 8"/>
          <p:cNvSpPr/>
          <p:nvPr/>
        </p:nvSpPr>
        <p:spPr>
          <a:xfrm>
            <a:off x="2767013" y="2088133"/>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Web framework &amp; backend</a:t>
            </a:r>
            <a:endParaRPr lang="en-US" sz="700" dirty="0"/>
          </a:p>
        </p:txBody>
      </p:sp>
      <p:sp>
        <p:nvSpPr>
          <p:cNvPr id="11" name="Text 9"/>
          <p:cNvSpPr/>
          <p:nvPr/>
        </p:nvSpPr>
        <p:spPr>
          <a:xfrm>
            <a:off x="1326877" y="2297981"/>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OpenCV</a:t>
            </a:r>
            <a:endParaRPr lang="en-US" sz="700" dirty="0"/>
          </a:p>
        </p:txBody>
      </p:sp>
      <p:sp>
        <p:nvSpPr>
          <p:cNvPr id="12" name="Text 10"/>
          <p:cNvSpPr/>
          <p:nvPr/>
        </p:nvSpPr>
        <p:spPr>
          <a:xfrm>
            <a:off x="2767013" y="2297981"/>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Video &amp; image processing</a:t>
            </a:r>
            <a:endParaRPr lang="en-US" sz="700" dirty="0"/>
          </a:p>
        </p:txBody>
      </p:sp>
      <p:sp>
        <p:nvSpPr>
          <p:cNvPr id="13" name="Text 11"/>
          <p:cNvSpPr/>
          <p:nvPr/>
        </p:nvSpPr>
        <p:spPr>
          <a:xfrm>
            <a:off x="1326877" y="2507828"/>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MediaPipe FaceMesh</a:t>
            </a:r>
            <a:endParaRPr lang="en-US" sz="700" dirty="0"/>
          </a:p>
        </p:txBody>
      </p:sp>
      <p:sp>
        <p:nvSpPr>
          <p:cNvPr id="14" name="Text 12"/>
          <p:cNvSpPr/>
          <p:nvPr/>
        </p:nvSpPr>
        <p:spPr>
          <a:xfrm>
            <a:off x="2767013" y="2507828"/>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Facial landmark detection</a:t>
            </a:r>
            <a:endParaRPr lang="en-US" sz="700" dirty="0"/>
          </a:p>
        </p:txBody>
      </p:sp>
      <p:sp>
        <p:nvSpPr>
          <p:cNvPr id="15" name="Text 13"/>
          <p:cNvSpPr/>
          <p:nvPr/>
        </p:nvSpPr>
        <p:spPr>
          <a:xfrm>
            <a:off x="1326877" y="2717676"/>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SQLite</a:t>
            </a:r>
            <a:endParaRPr lang="en-US" sz="700" dirty="0"/>
          </a:p>
        </p:txBody>
      </p:sp>
      <p:sp>
        <p:nvSpPr>
          <p:cNvPr id="16" name="Text 14"/>
          <p:cNvSpPr/>
          <p:nvPr/>
        </p:nvSpPr>
        <p:spPr>
          <a:xfrm>
            <a:off x="2767013" y="2717676"/>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Database management</a:t>
            </a:r>
            <a:endParaRPr lang="en-US" sz="700" dirty="0"/>
          </a:p>
        </p:txBody>
      </p:sp>
      <p:sp>
        <p:nvSpPr>
          <p:cNvPr id="17" name="Text 15"/>
          <p:cNvSpPr/>
          <p:nvPr/>
        </p:nvSpPr>
        <p:spPr>
          <a:xfrm>
            <a:off x="1326877" y="2927524"/>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VS Code</a:t>
            </a:r>
            <a:endParaRPr lang="en-US" sz="700" dirty="0"/>
          </a:p>
        </p:txBody>
      </p:sp>
      <p:sp>
        <p:nvSpPr>
          <p:cNvPr id="18" name="Text 16"/>
          <p:cNvSpPr/>
          <p:nvPr/>
        </p:nvSpPr>
        <p:spPr>
          <a:xfrm>
            <a:off x="2767013" y="2927524"/>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Development environment</a:t>
            </a:r>
            <a:endParaRPr lang="en-US" sz="700" dirty="0"/>
          </a:p>
        </p:txBody>
      </p:sp>
      <p:sp>
        <p:nvSpPr>
          <p:cNvPr id="19" name="Text 17"/>
          <p:cNvSpPr/>
          <p:nvPr/>
        </p:nvSpPr>
        <p:spPr>
          <a:xfrm>
            <a:off x="1326877" y="3137371"/>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HTML / CSS / JS</a:t>
            </a:r>
            <a:endParaRPr lang="en-US" sz="700" dirty="0"/>
          </a:p>
        </p:txBody>
      </p:sp>
      <p:sp>
        <p:nvSpPr>
          <p:cNvPr id="20" name="Text 18"/>
          <p:cNvSpPr/>
          <p:nvPr/>
        </p:nvSpPr>
        <p:spPr>
          <a:xfrm>
            <a:off x="2767013" y="3137371"/>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Frontend development</a:t>
            </a:r>
            <a:endParaRPr lang="en-US" sz="700" dirty="0"/>
          </a:p>
        </p:txBody>
      </p:sp>
      <p:sp>
        <p:nvSpPr>
          <p:cNvPr id="21" name="Text 19"/>
          <p:cNvSpPr/>
          <p:nvPr/>
        </p:nvSpPr>
        <p:spPr>
          <a:xfrm>
            <a:off x="1326877" y="3347219"/>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Chart.js</a:t>
            </a:r>
            <a:endParaRPr lang="en-US" sz="700" dirty="0"/>
          </a:p>
        </p:txBody>
      </p:sp>
      <p:sp>
        <p:nvSpPr>
          <p:cNvPr id="22" name="Text 20"/>
          <p:cNvSpPr/>
          <p:nvPr/>
        </p:nvSpPr>
        <p:spPr>
          <a:xfrm>
            <a:off x="2767013" y="3347219"/>
            <a:ext cx="1712640" cy="121444"/>
          </a:xfrm>
          <a:prstGeom prst="rect">
            <a:avLst/>
          </a:prstGeom>
          <a:noFill/>
          <a:ln/>
        </p:spPr>
        <p:txBody>
          <a:bodyPr wrap="none" lIns="0" tIns="0" rIns="0" bIns="0" rtlCol="0" anchor="t"/>
          <a:lstStyle/>
          <a:p>
            <a:pPr marL="0" indent="0" algn="l">
              <a:lnSpc>
                <a:spcPct val="113000"/>
              </a:lnSpc>
              <a:buNone/>
            </a:pPr>
            <a:r>
              <a:rPr lang="en-US" sz="700" dirty="0">
                <a:solidFill>
                  <a:srgbClr val="D9E1FF"/>
                </a:solidFill>
                <a:latin typeface="Martel Sans Light" pitchFamily="34" charset="0"/>
                <a:ea typeface="Martel Sans Light" pitchFamily="34" charset="-122"/>
                <a:cs typeface="Martel Sans Light" pitchFamily="34" charset="-120"/>
              </a:rPr>
              <a:t>Analytics visualization</a:t>
            </a:r>
            <a:endParaRPr lang="en-US" sz="700" dirty="0"/>
          </a:p>
        </p:txBody>
      </p:sp>
      <p:sp>
        <p:nvSpPr>
          <p:cNvPr id="23" name="Text 21"/>
          <p:cNvSpPr/>
          <p:nvPr/>
        </p:nvSpPr>
        <p:spPr>
          <a:xfrm>
            <a:off x="1326877" y="3557067"/>
            <a:ext cx="1712640" cy="121444"/>
          </a:xfrm>
          <a:prstGeom prst="rect">
            <a:avLst/>
          </a:prstGeom>
          <a:noFill/>
          <a:ln/>
        </p:spPr>
        <p:txBody>
          <a:bodyPr wrap="none" lIns="0" tIns="0" rIns="0" bIns="0" rtlCol="0" anchor="t"/>
          <a:lstStyle/>
          <a:p>
            <a:pPr marL="0" indent="0" algn="l">
              <a:lnSpc>
                <a:spcPct val="113000"/>
              </a:lnSpc>
              <a:buNone/>
            </a:pPr>
            <a:endParaRPr lang="en-US" sz="700" dirty="0"/>
          </a:p>
        </p:txBody>
      </p:sp>
      <p:sp>
        <p:nvSpPr>
          <p:cNvPr id="24" name="Text 22"/>
          <p:cNvSpPr/>
          <p:nvPr/>
        </p:nvSpPr>
        <p:spPr>
          <a:xfrm>
            <a:off x="2767013" y="3557067"/>
            <a:ext cx="1712640" cy="121444"/>
          </a:xfrm>
          <a:prstGeom prst="rect">
            <a:avLst/>
          </a:prstGeom>
          <a:noFill/>
          <a:ln/>
        </p:spPr>
        <p:txBody>
          <a:bodyPr wrap="none" lIns="0" tIns="0" rIns="0" bIns="0" rtlCol="0" anchor="t"/>
          <a:lstStyle/>
          <a:p>
            <a:pPr marL="0" indent="0" algn="l">
              <a:lnSpc>
                <a:spcPct val="113000"/>
              </a:lnSpc>
              <a:buNone/>
            </a:pPr>
            <a:endParaRPr lang="en-US" sz="700" dirty="0"/>
          </a:p>
        </p:txBody>
      </p:sp>
      <p:pic>
        <p:nvPicPr>
          <p:cNvPr id="25" name="Image 0" descr="preencoded.png"/>
          <p:cNvPicPr>
            <a:picLocks noChangeAspect="1"/>
          </p:cNvPicPr>
          <p:nvPr/>
        </p:nvPicPr>
        <p:blipFill>
          <a:blip r:embed="rId3"/>
          <a:stretch>
            <a:fillRect/>
          </a:stretch>
        </p:blipFill>
        <p:spPr>
          <a:xfrm>
            <a:off x="4341465" y="1052438"/>
            <a:ext cx="3242146" cy="3242146"/>
          </a:xfrm>
          <a:prstGeom prst="rect">
            <a:avLst/>
          </a:prstGeom>
        </p:spPr>
      </p:pic>
      <p:sp>
        <p:nvSpPr>
          <p:cNvPr id="26" name="Shape 23"/>
          <p:cNvSpPr/>
          <p:nvPr/>
        </p:nvSpPr>
        <p:spPr>
          <a:xfrm>
            <a:off x="1232074" y="4433739"/>
            <a:ext cx="6679778" cy="427806"/>
          </a:xfrm>
          <a:prstGeom prst="roundRect">
            <a:avLst>
              <a:gd name="adj" fmla="val 3156"/>
            </a:avLst>
          </a:prstGeom>
          <a:solidFill>
            <a:srgbClr val="022349"/>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1322040" y="4548411"/>
            <a:ext cx="112440" cy="89967"/>
          </a:xfrm>
          <a:prstGeom prst="rect">
            <a:avLst/>
          </a:prstGeom>
        </p:spPr>
      </p:pic>
      <p:sp>
        <p:nvSpPr>
          <p:cNvPr id="28" name="Text 24"/>
          <p:cNvSpPr/>
          <p:nvPr/>
        </p:nvSpPr>
        <p:spPr>
          <a:xfrm>
            <a:off x="1524446" y="4518050"/>
            <a:ext cx="6297439" cy="242888"/>
          </a:xfrm>
          <a:prstGeom prst="rect">
            <a:avLst/>
          </a:prstGeom>
          <a:noFill/>
          <a:ln/>
        </p:spPr>
        <p:txBody>
          <a:bodyPr wrap="square" lIns="0" tIns="0" rIns="0" bIns="0" rtlCol="0" anchor="t">
            <a:normAutofit/>
          </a:bodyPr>
          <a:lstStyle/>
          <a:p>
            <a:pPr marL="0" indent="0" algn="l">
              <a:lnSpc>
                <a:spcPct val="113000"/>
              </a:lnSpc>
              <a:buNone/>
            </a:pPr>
            <a:r>
              <a:rPr lang="en-US" sz="700" b="1" dirty="0">
                <a:solidFill>
                  <a:srgbClr val="FFFFFF"/>
                </a:solidFill>
                <a:latin typeface="Martel Sans Light" pitchFamily="34" charset="0"/>
                <a:ea typeface="Martel Sans Light" pitchFamily="34" charset="-122"/>
                <a:cs typeface="Martel Sans Light" pitchFamily="34" charset="-120"/>
              </a:rPr>
              <a:t>Core Pipeline:</a:t>
            </a:r>
            <a:r>
              <a:rPr lang="en-US" sz="700" dirty="0">
                <a:solidFill>
                  <a:srgbClr val="FFFFFF"/>
                </a:solidFill>
                <a:latin typeface="Martel Sans Light" pitchFamily="34" charset="0"/>
                <a:ea typeface="Martel Sans Light" pitchFamily="34" charset="-122"/>
                <a:cs typeface="Martel Sans Light" pitchFamily="34" charset="-120"/>
              </a:rPr>
              <a:t> Python and Django handle backend processing and API logic. OpenCV processes classroom video frames in real time. MediaPipe FaceMesh detects 468 facial landmarks for precise engagement analysis. Chart.js renders interactive analytics on the frontend.</a:t>
            </a:r>
            <a:endParaRPr lang="en-US" sz="700" dirty="0"/>
          </a:p>
        </p:txBody>
      </p:sp>
      <p:pic>
        <p:nvPicPr>
          <p:cNvPr id="29" name="Picture 28">
            <a:extLst>
              <a:ext uri="{FF2B5EF4-FFF2-40B4-BE49-F238E27FC236}">
                <a16:creationId xmlns:a16="http://schemas.microsoft.com/office/drawing/2014/main" id="{FB1EB260-1805-027D-4E1E-C8E87F228674}"/>
              </a:ext>
            </a:extLst>
          </p:cNvPr>
          <p:cNvPicPr>
            <a:picLocks noChangeAspect="1"/>
          </p:cNvPicPr>
          <p:nvPr/>
        </p:nvPicPr>
        <p:blipFill>
          <a:blip r:embed="rId5"/>
          <a:stretch>
            <a:fillRect/>
          </a:stretch>
        </p:blipFill>
        <p:spPr>
          <a:xfrm>
            <a:off x="7855527" y="4780407"/>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577" y="766837"/>
            <a:ext cx="3537421" cy="384944"/>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Kanit" pitchFamily="34" charset="0"/>
                <a:ea typeface="Kanit" pitchFamily="34" charset="-122"/>
                <a:cs typeface="Kanit" pitchFamily="34" charset="-120"/>
              </a:rPr>
              <a:t>System Architecture</a:t>
            </a:r>
            <a:endParaRPr lang="en-US" sz="2400" dirty="0"/>
          </a:p>
        </p:txBody>
      </p:sp>
      <p:sp>
        <p:nvSpPr>
          <p:cNvPr id="3" name="Text 1"/>
          <p:cNvSpPr/>
          <p:nvPr/>
        </p:nvSpPr>
        <p:spPr>
          <a:xfrm>
            <a:off x="523577" y="1413570"/>
            <a:ext cx="8096845" cy="41880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This is the actual system pipeline architecture, showing how classroom video moves from input capture through AI processing, classification, API broadcast, and storage before reaching the dashboard.</a:t>
            </a:r>
            <a:endParaRPr lang="en-US" sz="1000" dirty="0"/>
          </a:p>
        </p:txBody>
      </p:sp>
      <p:pic>
        <p:nvPicPr>
          <p:cNvPr id="4" name="Image 0" descr="preencoded.png"/>
          <p:cNvPicPr>
            <a:picLocks noChangeAspect="1"/>
          </p:cNvPicPr>
          <p:nvPr/>
        </p:nvPicPr>
        <p:blipFill>
          <a:blip r:embed="rId3"/>
          <a:stretch>
            <a:fillRect/>
          </a:stretch>
        </p:blipFill>
        <p:spPr>
          <a:xfrm>
            <a:off x="523577" y="1979637"/>
            <a:ext cx="8096845" cy="2040359"/>
          </a:xfrm>
          <a:prstGeom prst="rect">
            <a:avLst/>
          </a:prstGeom>
        </p:spPr>
      </p:pic>
      <p:sp>
        <p:nvSpPr>
          <p:cNvPr id="5" name="Text 2"/>
          <p:cNvSpPr/>
          <p:nvPr/>
        </p:nvSpPr>
        <p:spPr>
          <a:xfrm>
            <a:off x="523577" y="4167262"/>
            <a:ext cx="8554045" cy="209401"/>
          </a:xfrm>
          <a:prstGeom prst="rect">
            <a:avLst/>
          </a:prstGeom>
          <a:noFill/>
          <a:ln/>
        </p:spPr>
        <p:txBody>
          <a:bodyPr wrap="none" lIns="0" tIns="0" rIns="0" bIns="0" rtlCol="0" anchor="t"/>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Video Input → Frame Capture → Face Detection → Classification → API Broadcast → Dashboard → Database</a:t>
            </a:r>
            <a:endParaRPr lang="en-US" sz="1000" dirty="0"/>
          </a:p>
        </p:txBody>
      </p:sp>
      <p:pic>
        <p:nvPicPr>
          <p:cNvPr id="6" name="Picture 5">
            <a:extLst>
              <a:ext uri="{FF2B5EF4-FFF2-40B4-BE49-F238E27FC236}">
                <a16:creationId xmlns:a16="http://schemas.microsoft.com/office/drawing/2014/main" id="{775894CF-8742-3A27-474C-6D3A2C266354}"/>
              </a:ext>
            </a:extLst>
          </p:cNvPr>
          <p:cNvPicPr>
            <a:picLocks noChangeAspect="1"/>
          </p:cNvPicPr>
          <p:nvPr/>
        </p:nvPicPr>
        <p:blipFill>
          <a:blip r:embed="rId4"/>
          <a:stretch>
            <a:fillRect/>
          </a:stretch>
        </p:blipFill>
        <p:spPr>
          <a:xfrm>
            <a:off x="7855527" y="4780407"/>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378916"/>
            <a:ext cx="3537421" cy="384944"/>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Kanit" pitchFamily="34" charset="0"/>
                <a:ea typeface="Kanit" pitchFamily="34" charset="-122"/>
                <a:cs typeface="Kanit" pitchFamily="34" charset="-120"/>
              </a:rPr>
              <a:t>System Modules</a:t>
            </a:r>
            <a:endParaRPr lang="en-US" sz="2400" dirty="0"/>
          </a:p>
        </p:txBody>
      </p:sp>
      <p:sp>
        <p:nvSpPr>
          <p:cNvPr id="3" name="Text 1"/>
          <p:cNvSpPr/>
          <p:nvPr/>
        </p:nvSpPr>
        <p:spPr>
          <a:xfrm>
            <a:off x="523577" y="1025649"/>
            <a:ext cx="8096845" cy="41880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The application is organized into six distinct modules, each responsible for a specific function within the engagement monitoring workflow.</a:t>
            </a:r>
            <a:endParaRPr lang="en-US" sz="10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577" y="1591717"/>
            <a:ext cx="392683" cy="392683"/>
          </a:xfrm>
          <a:prstGeom prst="rect">
            <a:avLst/>
          </a:prstGeom>
        </p:spPr>
      </p:pic>
      <p:sp>
        <p:nvSpPr>
          <p:cNvPr id="5" name="Text 2"/>
          <p:cNvSpPr/>
          <p:nvPr/>
        </p:nvSpPr>
        <p:spPr>
          <a:xfrm>
            <a:off x="523577" y="2148036"/>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User Authentication</a:t>
            </a:r>
            <a:endParaRPr lang="en-US" sz="1200" dirty="0"/>
          </a:p>
        </p:txBody>
      </p:sp>
      <p:sp>
        <p:nvSpPr>
          <p:cNvPr id="6" name="Text 3"/>
          <p:cNvSpPr/>
          <p:nvPr/>
        </p:nvSpPr>
        <p:spPr>
          <a:xfrm>
            <a:off x="523577" y="2419052"/>
            <a:ext cx="2589833"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Secure login and registration system with role-based access for teachers and administrators.</a:t>
            </a:r>
            <a:endParaRPr lang="en-US" sz="10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7046" y="1591717"/>
            <a:ext cx="392683" cy="392683"/>
          </a:xfrm>
          <a:prstGeom prst="rect">
            <a:avLst/>
          </a:prstGeom>
        </p:spPr>
      </p:pic>
      <p:sp>
        <p:nvSpPr>
          <p:cNvPr id="8" name="Text 4"/>
          <p:cNvSpPr/>
          <p:nvPr/>
        </p:nvSpPr>
        <p:spPr>
          <a:xfrm>
            <a:off x="3277046" y="2148036"/>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Video Upload</a:t>
            </a:r>
            <a:endParaRPr lang="en-US" sz="1200" dirty="0"/>
          </a:p>
        </p:txBody>
      </p:sp>
      <p:sp>
        <p:nvSpPr>
          <p:cNvPr id="9" name="Text 5"/>
          <p:cNvSpPr/>
          <p:nvPr/>
        </p:nvSpPr>
        <p:spPr>
          <a:xfrm>
            <a:off x="3277046" y="2419052"/>
            <a:ext cx="2589833"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Upload pre-recorded classroom session videos for offline analysis and report generation.</a:t>
            </a:r>
            <a:endParaRPr lang="en-US" sz="10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30516" y="1591717"/>
            <a:ext cx="392683" cy="392683"/>
          </a:xfrm>
          <a:prstGeom prst="rect">
            <a:avLst/>
          </a:prstGeom>
        </p:spPr>
      </p:pic>
      <p:sp>
        <p:nvSpPr>
          <p:cNvPr id="11" name="Text 6"/>
          <p:cNvSpPr/>
          <p:nvPr/>
        </p:nvSpPr>
        <p:spPr>
          <a:xfrm>
            <a:off x="6030516" y="2148036"/>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Real-Time Monitoring</a:t>
            </a:r>
            <a:endParaRPr lang="en-US" sz="1200" dirty="0"/>
          </a:p>
        </p:txBody>
      </p:sp>
      <p:sp>
        <p:nvSpPr>
          <p:cNvPr id="12" name="Text 7"/>
          <p:cNvSpPr/>
          <p:nvPr/>
        </p:nvSpPr>
        <p:spPr>
          <a:xfrm>
            <a:off x="6030516" y="2419052"/>
            <a:ext cx="2589907"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Live engagement detection via webcam feed with instant behavioral classification.</a:t>
            </a:r>
            <a:endParaRPr lang="en-US" sz="10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577" y="3309045"/>
            <a:ext cx="392683" cy="392683"/>
          </a:xfrm>
          <a:prstGeom prst="rect">
            <a:avLst/>
          </a:prstGeom>
        </p:spPr>
      </p:pic>
      <p:sp>
        <p:nvSpPr>
          <p:cNvPr id="14" name="Text 8"/>
          <p:cNvSpPr/>
          <p:nvPr/>
        </p:nvSpPr>
        <p:spPr>
          <a:xfrm>
            <a:off x="523577" y="3865364"/>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Analytics Dashboard</a:t>
            </a:r>
            <a:endParaRPr lang="en-US" sz="1200" dirty="0"/>
          </a:p>
        </p:txBody>
      </p:sp>
      <p:sp>
        <p:nvSpPr>
          <p:cNvPr id="15" name="Text 9"/>
          <p:cNvSpPr/>
          <p:nvPr/>
        </p:nvSpPr>
        <p:spPr>
          <a:xfrm>
            <a:off x="523577" y="4136380"/>
            <a:ext cx="2589833"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Interactive charts, KPIs, and behavior statistics displayed in a unified dashboard view.</a:t>
            </a:r>
            <a:endParaRPr lang="en-US" sz="10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77046" y="3309045"/>
            <a:ext cx="392683" cy="392683"/>
          </a:xfrm>
          <a:prstGeom prst="rect">
            <a:avLst/>
          </a:prstGeom>
        </p:spPr>
      </p:pic>
      <p:sp>
        <p:nvSpPr>
          <p:cNvPr id="17" name="Text 10"/>
          <p:cNvSpPr/>
          <p:nvPr/>
        </p:nvSpPr>
        <p:spPr>
          <a:xfrm>
            <a:off x="3277046" y="3865364"/>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Heatmap Generation</a:t>
            </a:r>
            <a:endParaRPr lang="en-US" sz="1200" dirty="0"/>
          </a:p>
        </p:txBody>
      </p:sp>
      <p:sp>
        <p:nvSpPr>
          <p:cNvPr id="18" name="Text 11"/>
          <p:cNvSpPr/>
          <p:nvPr/>
        </p:nvSpPr>
        <p:spPr>
          <a:xfrm>
            <a:off x="3277046" y="4136380"/>
            <a:ext cx="2589833"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Visual overlay identifying classroom distraction zones and high-engagement areas.</a:t>
            </a:r>
            <a:endParaRPr lang="en-US" sz="10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30516" y="3309045"/>
            <a:ext cx="392683" cy="392683"/>
          </a:xfrm>
          <a:prstGeom prst="rect">
            <a:avLst/>
          </a:prstGeom>
        </p:spPr>
      </p:pic>
      <p:sp>
        <p:nvSpPr>
          <p:cNvPr id="20" name="Text 12"/>
          <p:cNvSpPr/>
          <p:nvPr/>
        </p:nvSpPr>
        <p:spPr>
          <a:xfrm>
            <a:off x="6030516" y="3865364"/>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Reports Management</a:t>
            </a:r>
            <a:endParaRPr lang="en-US" sz="1200" dirty="0"/>
          </a:p>
        </p:txBody>
      </p:sp>
      <p:sp>
        <p:nvSpPr>
          <p:cNvPr id="21" name="Text 13"/>
          <p:cNvSpPr/>
          <p:nvPr/>
        </p:nvSpPr>
        <p:spPr>
          <a:xfrm>
            <a:off x="6030516" y="4136380"/>
            <a:ext cx="2589907" cy="628204"/>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Store, view, and export detailed session-level engagement reports in structured formats.</a:t>
            </a:r>
            <a:endParaRPr lang="en-US" sz="1000" dirty="0"/>
          </a:p>
        </p:txBody>
      </p:sp>
      <p:pic>
        <p:nvPicPr>
          <p:cNvPr id="22" name="Picture 21">
            <a:extLst>
              <a:ext uri="{FF2B5EF4-FFF2-40B4-BE49-F238E27FC236}">
                <a16:creationId xmlns:a16="http://schemas.microsoft.com/office/drawing/2014/main" id="{7F2E461C-1B99-B916-F346-E0BBC95AF912}"/>
              </a:ext>
            </a:extLst>
          </p:cNvPr>
          <p:cNvPicPr>
            <a:picLocks noChangeAspect="1"/>
          </p:cNvPicPr>
          <p:nvPr/>
        </p:nvPicPr>
        <p:blipFill>
          <a:blip r:embed="rId9"/>
          <a:stretch>
            <a:fillRect/>
          </a:stretch>
        </p:blipFill>
        <p:spPr>
          <a:xfrm>
            <a:off x="7855527" y="4780407"/>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4538" y="482278"/>
            <a:ext cx="3248620" cy="348853"/>
          </a:xfrm>
          <a:prstGeom prst="rect">
            <a:avLst/>
          </a:prstGeom>
          <a:noFill/>
          <a:ln/>
        </p:spPr>
        <p:txBody>
          <a:bodyPr wrap="none" lIns="0" tIns="0" rIns="0" bIns="0" rtlCol="0" anchor="t"/>
          <a:lstStyle/>
          <a:p>
            <a:pPr marL="0" indent="0" algn="l">
              <a:lnSpc>
                <a:spcPct val="104000"/>
              </a:lnSpc>
              <a:buNone/>
            </a:pPr>
            <a:r>
              <a:rPr lang="en-US" sz="2150" dirty="0">
                <a:solidFill>
                  <a:srgbClr val="FFFFFF"/>
                </a:solidFill>
                <a:latin typeface="Kanit" pitchFamily="34" charset="0"/>
                <a:ea typeface="Kanit" pitchFamily="34" charset="-122"/>
                <a:cs typeface="Kanit" pitchFamily="34" charset="-120"/>
              </a:rPr>
              <a:t>Software Snapshots</a:t>
            </a:r>
            <a:endParaRPr lang="en-US" sz="2150" dirty="0"/>
          </a:p>
        </p:txBody>
      </p:sp>
      <p:sp>
        <p:nvSpPr>
          <p:cNvPr id="3" name="Text 1"/>
          <p:cNvSpPr/>
          <p:nvPr/>
        </p:nvSpPr>
        <p:spPr>
          <a:xfrm>
            <a:off x="474538" y="1046113"/>
            <a:ext cx="8194923" cy="361652"/>
          </a:xfrm>
          <a:prstGeom prst="rect">
            <a:avLst/>
          </a:prstGeom>
          <a:noFill/>
          <a:ln/>
        </p:spPr>
        <p:txBody>
          <a:bodyPr wrap="square" lIns="0" tIns="0" rIns="0" bIns="0" rtlCol="0" anchor="t">
            <a:normAutofit/>
          </a:bodyPr>
          <a:lstStyle/>
          <a:p>
            <a:pPr marL="0" indent="0" algn="l">
              <a:lnSpc>
                <a:spcPct val="127000"/>
              </a:lnSpc>
              <a:buNone/>
            </a:pPr>
            <a:r>
              <a:rPr lang="en-US" sz="900" dirty="0">
                <a:solidFill>
                  <a:srgbClr val="D9E1FF"/>
                </a:solidFill>
                <a:latin typeface="Martel Sans Light" pitchFamily="34" charset="0"/>
                <a:ea typeface="Martel Sans Light" pitchFamily="34" charset="-122"/>
                <a:cs typeface="Martel Sans Light" pitchFamily="34" charset="-120"/>
              </a:rPr>
              <a:t>Explore the comprehensive user interface and powerful features of the AI-Driven Classroom Engagement Monitor application through these key software snapshots.</a:t>
            </a:r>
            <a:endParaRPr lang="en-US" sz="900" dirty="0"/>
          </a:p>
        </p:txBody>
      </p:sp>
      <p:pic>
        <p:nvPicPr>
          <p:cNvPr id="4" name="Image 0" descr="preencoded.png"/>
          <p:cNvPicPr>
            <a:picLocks noChangeAspect="1"/>
          </p:cNvPicPr>
          <p:nvPr/>
        </p:nvPicPr>
        <p:blipFill>
          <a:blip r:embed="rId3"/>
          <a:stretch>
            <a:fillRect/>
          </a:stretch>
        </p:blipFill>
        <p:spPr>
          <a:xfrm>
            <a:off x="479301" y="1605781"/>
            <a:ext cx="2656880" cy="1423615"/>
          </a:xfrm>
          <a:prstGeom prst="rect">
            <a:avLst/>
          </a:prstGeom>
        </p:spPr>
      </p:pic>
      <p:pic>
        <p:nvPicPr>
          <p:cNvPr id="5" name="Image 1" descr="preencoded.png"/>
          <p:cNvPicPr>
            <a:picLocks noChangeAspect="1"/>
          </p:cNvPicPr>
          <p:nvPr/>
        </p:nvPicPr>
        <p:blipFill>
          <a:blip r:embed="rId4"/>
          <a:stretch>
            <a:fillRect/>
          </a:stretch>
        </p:blipFill>
        <p:spPr>
          <a:xfrm>
            <a:off x="3231059" y="1605781"/>
            <a:ext cx="2678237" cy="1423615"/>
          </a:xfrm>
          <a:prstGeom prst="rect">
            <a:avLst/>
          </a:prstGeom>
        </p:spPr>
      </p:pic>
      <p:pic>
        <p:nvPicPr>
          <p:cNvPr id="6" name="Image 2" descr="preencoded.png"/>
          <p:cNvPicPr>
            <a:picLocks noChangeAspect="1"/>
          </p:cNvPicPr>
          <p:nvPr/>
        </p:nvPicPr>
        <p:blipFill>
          <a:blip r:embed="rId5"/>
          <a:stretch>
            <a:fillRect/>
          </a:stretch>
        </p:blipFill>
        <p:spPr>
          <a:xfrm>
            <a:off x="6004173" y="1605781"/>
            <a:ext cx="2660452" cy="1423615"/>
          </a:xfrm>
          <a:prstGeom prst="rect">
            <a:avLst/>
          </a:prstGeom>
        </p:spPr>
      </p:pic>
      <p:pic>
        <p:nvPicPr>
          <p:cNvPr id="7" name="Image 3" descr="preencoded.png"/>
          <p:cNvPicPr>
            <a:picLocks noChangeAspect="1"/>
          </p:cNvPicPr>
          <p:nvPr/>
        </p:nvPicPr>
        <p:blipFill>
          <a:blip r:embed="rId6"/>
          <a:stretch>
            <a:fillRect/>
          </a:stretch>
        </p:blipFill>
        <p:spPr>
          <a:xfrm>
            <a:off x="479301" y="3124274"/>
            <a:ext cx="4047083" cy="1423615"/>
          </a:xfrm>
          <a:prstGeom prst="rect">
            <a:avLst/>
          </a:prstGeom>
        </p:spPr>
      </p:pic>
      <p:pic>
        <p:nvPicPr>
          <p:cNvPr id="8" name="Image 4" descr="preencoded.png"/>
          <p:cNvPicPr>
            <a:picLocks noChangeAspect="1"/>
          </p:cNvPicPr>
          <p:nvPr/>
        </p:nvPicPr>
        <p:blipFill>
          <a:blip r:embed="rId7"/>
          <a:stretch>
            <a:fillRect/>
          </a:stretch>
        </p:blipFill>
        <p:spPr>
          <a:xfrm>
            <a:off x="4621262" y="3124274"/>
            <a:ext cx="4043511" cy="1423615"/>
          </a:xfrm>
          <a:prstGeom prst="rect">
            <a:avLst/>
          </a:prstGeom>
        </p:spPr>
      </p:pic>
      <p:pic>
        <p:nvPicPr>
          <p:cNvPr id="9" name="Picture 8">
            <a:extLst>
              <a:ext uri="{FF2B5EF4-FFF2-40B4-BE49-F238E27FC236}">
                <a16:creationId xmlns:a16="http://schemas.microsoft.com/office/drawing/2014/main" id="{AEBB26C6-E184-6E01-A754-A080E399E311}"/>
              </a:ext>
            </a:extLst>
          </p:cNvPr>
          <p:cNvPicPr>
            <a:picLocks noChangeAspect="1"/>
          </p:cNvPicPr>
          <p:nvPr/>
        </p:nvPicPr>
        <p:blipFill>
          <a:blip r:embed="rId8"/>
          <a:stretch>
            <a:fillRect/>
          </a:stretch>
        </p:blipFill>
        <p:spPr>
          <a:xfrm>
            <a:off x="7855527" y="4780407"/>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77" y="652537"/>
            <a:ext cx="3537421" cy="384944"/>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Kanit" pitchFamily="34" charset="0"/>
                <a:ea typeface="Kanit" pitchFamily="34" charset="-122"/>
                <a:cs typeface="Kanit" pitchFamily="34" charset="-120"/>
              </a:rPr>
              <a:t>System Output</a:t>
            </a:r>
            <a:endParaRPr lang="en-US" sz="2400" dirty="0"/>
          </a:p>
        </p:txBody>
      </p:sp>
      <p:sp>
        <p:nvSpPr>
          <p:cNvPr id="3" name="Text 1"/>
          <p:cNvSpPr/>
          <p:nvPr/>
        </p:nvSpPr>
        <p:spPr>
          <a:xfrm>
            <a:off x="523577" y="1299270"/>
            <a:ext cx="8554045" cy="209401"/>
          </a:xfrm>
          <a:prstGeom prst="rect">
            <a:avLst/>
          </a:prstGeom>
          <a:noFill/>
          <a:ln/>
        </p:spPr>
        <p:txBody>
          <a:bodyPr wrap="none" lIns="0" tIns="0" rIns="0" bIns="0" rtlCol="0" anchor="t"/>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The application interface presents engagement data through four primary views, each designed for clarity and actionable insight.</a:t>
            </a:r>
            <a:endParaRPr lang="en-US" sz="1000" dirty="0"/>
          </a:p>
        </p:txBody>
      </p:sp>
      <p:pic>
        <p:nvPicPr>
          <p:cNvPr id="4" name="Image 0" descr="preencoded.png"/>
          <p:cNvPicPr>
            <a:picLocks noChangeAspect="1"/>
          </p:cNvPicPr>
          <p:nvPr/>
        </p:nvPicPr>
        <p:blipFill>
          <a:blip r:embed="rId3"/>
          <a:stretch>
            <a:fillRect/>
          </a:stretch>
        </p:blipFill>
        <p:spPr>
          <a:xfrm>
            <a:off x="523577" y="1655936"/>
            <a:ext cx="1368996" cy="846088"/>
          </a:xfrm>
          <a:prstGeom prst="rect">
            <a:avLst/>
          </a:prstGeom>
        </p:spPr>
      </p:pic>
      <p:sp>
        <p:nvSpPr>
          <p:cNvPr id="5" name="Text 2"/>
          <p:cNvSpPr/>
          <p:nvPr/>
        </p:nvSpPr>
        <p:spPr>
          <a:xfrm>
            <a:off x="523577" y="2665661"/>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Dashboard Page</a:t>
            </a:r>
            <a:endParaRPr lang="en-US" sz="1200" dirty="0"/>
          </a:p>
        </p:txBody>
      </p:sp>
      <p:sp>
        <p:nvSpPr>
          <p:cNvPr id="6" name="Text 3"/>
          <p:cNvSpPr/>
          <p:nvPr/>
        </p:nvSpPr>
        <p:spPr>
          <a:xfrm>
            <a:off x="523577" y="2936677"/>
            <a:ext cx="1901428" cy="83760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Central hub displaying real-time engagement percentages, student count, and session summary statistics at a glance.</a:t>
            </a:r>
            <a:endParaRPr lang="en-US" sz="1000" dirty="0"/>
          </a:p>
        </p:txBody>
      </p:sp>
      <p:pic>
        <p:nvPicPr>
          <p:cNvPr id="7" name="Image 1" descr="preencoded.png"/>
          <p:cNvPicPr>
            <a:picLocks noChangeAspect="1"/>
          </p:cNvPicPr>
          <p:nvPr/>
        </p:nvPicPr>
        <p:blipFill>
          <a:blip r:embed="rId4"/>
          <a:stretch>
            <a:fillRect/>
          </a:stretch>
        </p:blipFill>
        <p:spPr>
          <a:xfrm>
            <a:off x="2588642" y="1655936"/>
            <a:ext cx="1369070" cy="846088"/>
          </a:xfrm>
          <a:prstGeom prst="rect">
            <a:avLst/>
          </a:prstGeom>
        </p:spPr>
      </p:pic>
      <p:sp>
        <p:nvSpPr>
          <p:cNvPr id="8" name="Text 4"/>
          <p:cNvSpPr/>
          <p:nvPr/>
        </p:nvSpPr>
        <p:spPr>
          <a:xfrm>
            <a:off x="2588642" y="2665661"/>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Analytics Page</a:t>
            </a:r>
            <a:endParaRPr lang="en-US" sz="1200" dirty="0"/>
          </a:p>
        </p:txBody>
      </p:sp>
      <p:sp>
        <p:nvSpPr>
          <p:cNvPr id="9" name="Text 5"/>
          <p:cNvSpPr/>
          <p:nvPr/>
        </p:nvSpPr>
        <p:spPr>
          <a:xfrm>
            <a:off x="2588642" y="2936677"/>
            <a:ext cx="1901503" cy="83760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Deep-dive visualizations including trend graphs, comparative charts, and per-student behavior breakdowns.</a:t>
            </a:r>
            <a:endParaRPr lang="en-US" sz="1000" dirty="0"/>
          </a:p>
        </p:txBody>
      </p:sp>
      <p:pic>
        <p:nvPicPr>
          <p:cNvPr id="10" name="Image 2" descr="preencoded.png"/>
          <p:cNvPicPr>
            <a:picLocks noChangeAspect="1"/>
          </p:cNvPicPr>
          <p:nvPr/>
        </p:nvPicPr>
        <p:blipFill>
          <a:blip r:embed="rId5"/>
          <a:stretch>
            <a:fillRect/>
          </a:stretch>
        </p:blipFill>
        <p:spPr>
          <a:xfrm>
            <a:off x="4653781" y="1655936"/>
            <a:ext cx="1369070" cy="846088"/>
          </a:xfrm>
          <a:prstGeom prst="rect">
            <a:avLst/>
          </a:prstGeom>
        </p:spPr>
      </p:pic>
      <p:sp>
        <p:nvSpPr>
          <p:cNvPr id="11" name="Text 6"/>
          <p:cNvSpPr/>
          <p:nvPr/>
        </p:nvSpPr>
        <p:spPr>
          <a:xfrm>
            <a:off x="4653781" y="2665661"/>
            <a:ext cx="1563960"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Heatmap Visualization</a:t>
            </a:r>
            <a:endParaRPr lang="en-US" sz="1200" dirty="0"/>
          </a:p>
        </p:txBody>
      </p:sp>
      <p:sp>
        <p:nvSpPr>
          <p:cNvPr id="12" name="Text 7"/>
          <p:cNvSpPr/>
          <p:nvPr/>
        </p:nvSpPr>
        <p:spPr>
          <a:xfrm>
            <a:off x="4653781" y="2936677"/>
            <a:ext cx="1901503" cy="104700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Color-coded spatial map highlighting distraction zones (red) and high-engagement zones (green) across the classroom layout.</a:t>
            </a:r>
            <a:endParaRPr lang="en-US" sz="1000" dirty="0"/>
          </a:p>
        </p:txBody>
      </p:sp>
      <p:pic>
        <p:nvPicPr>
          <p:cNvPr id="13" name="Image 3" descr="preencoded.png"/>
          <p:cNvPicPr>
            <a:picLocks noChangeAspect="1"/>
          </p:cNvPicPr>
          <p:nvPr/>
        </p:nvPicPr>
        <p:blipFill>
          <a:blip r:embed="rId6"/>
          <a:stretch>
            <a:fillRect/>
          </a:stretch>
        </p:blipFill>
        <p:spPr>
          <a:xfrm>
            <a:off x="6718920" y="1655936"/>
            <a:ext cx="1369070" cy="846088"/>
          </a:xfrm>
          <a:prstGeom prst="rect">
            <a:avLst/>
          </a:prstGeom>
        </p:spPr>
      </p:pic>
      <p:sp>
        <p:nvSpPr>
          <p:cNvPr id="14" name="Text 8"/>
          <p:cNvSpPr/>
          <p:nvPr/>
        </p:nvSpPr>
        <p:spPr>
          <a:xfrm>
            <a:off x="6718920" y="2665661"/>
            <a:ext cx="1540073" cy="192509"/>
          </a:xfrm>
          <a:prstGeom prst="rect">
            <a:avLst/>
          </a:prstGeom>
          <a:noFill/>
          <a:ln/>
        </p:spPr>
        <p:txBody>
          <a:bodyPr wrap="none" lIns="0" tIns="0" rIns="0" bIns="0" rtlCol="0" anchor="t"/>
          <a:lstStyle/>
          <a:p>
            <a:pPr marL="0" indent="0" algn="l">
              <a:lnSpc>
                <a:spcPct val="104000"/>
              </a:lnSpc>
              <a:buNone/>
            </a:pPr>
            <a:r>
              <a:rPr lang="en-US" sz="1200" dirty="0">
                <a:solidFill>
                  <a:srgbClr val="D9E1FF"/>
                </a:solidFill>
                <a:latin typeface="Kanit" pitchFamily="34" charset="0"/>
                <a:ea typeface="Kanit" pitchFamily="34" charset="-122"/>
                <a:cs typeface="Kanit" pitchFamily="34" charset="-120"/>
              </a:rPr>
              <a:t>Reports Page</a:t>
            </a:r>
            <a:endParaRPr lang="en-US" sz="1200" dirty="0"/>
          </a:p>
        </p:txBody>
      </p:sp>
      <p:sp>
        <p:nvSpPr>
          <p:cNvPr id="15" name="Text 9"/>
          <p:cNvSpPr/>
          <p:nvPr/>
        </p:nvSpPr>
        <p:spPr>
          <a:xfrm>
            <a:off x="6718920" y="2936677"/>
            <a:ext cx="1901503" cy="104700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D9E1FF"/>
                </a:solidFill>
                <a:latin typeface="Martel Sans Light" pitchFamily="34" charset="0"/>
                <a:ea typeface="Martel Sans Light" pitchFamily="34" charset="-122"/>
                <a:cs typeface="Martel Sans Light" pitchFamily="34" charset="-120"/>
              </a:rPr>
              <a:t>Structured session reports with exportable data tables, engagement scores, and timestamped behavioral classifications.</a:t>
            </a:r>
            <a:endParaRPr lang="en-US" sz="1000" dirty="0"/>
          </a:p>
        </p:txBody>
      </p:sp>
      <p:pic>
        <p:nvPicPr>
          <p:cNvPr id="16" name="Image 4" descr="preencoded.png">
            <a:hlinkClick r:id="rId7"/>
          </p:cNvPr>
          <p:cNvPicPr>
            <a:picLocks noChangeAspect="1"/>
          </p:cNvPicPr>
          <p:nvPr/>
        </p:nvPicPr>
        <p:blipFill>
          <a:blip r:embed="rId8"/>
          <a:stretch>
            <a:fillRect/>
          </a:stretch>
        </p:blipFill>
        <p:spPr>
          <a:xfrm>
            <a:off x="903089" y="4130948"/>
            <a:ext cx="7337747" cy="490928"/>
          </a:xfrm>
          <a:prstGeom prst="rect">
            <a:avLst/>
          </a:prstGeom>
        </p:spPr>
      </p:pic>
      <p:pic>
        <p:nvPicPr>
          <p:cNvPr id="18" name="Picture 17">
            <a:extLst>
              <a:ext uri="{FF2B5EF4-FFF2-40B4-BE49-F238E27FC236}">
                <a16:creationId xmlns:a16="http://schemas.microsoft.com/office/drawing/2014/main" id="{D3DC8074-B9AC-B2A9-FA48-E845EE4F7B16}"/>
              </a:ext>
            </a:extLst>
          </p:cNvPr>
          <p:cNvPicPr>
            <a:picLocks noChangeAspect="1"/>
          </p:cNvPicPr>
          <p:nvPr/>
        </p:nvPicPr>
        <p:blipFill>
          <a:blip r:embed="rId9"/>
          <a:stretch>
            <a:fillRect/>
          </a:stretch>
        </p:blipFill>
        <p:spPr>
          <a:xfrm>
            <a:off x="7855527" y="4788720"/>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28464" y="290438"/>
            <a:ext cx="3700016" cy="288801"/>
          </a:xfrm>
          <a:prstGeom prst="rect">
            <a:avLst/>
          </a:prstGeom>
          <a:noFill/>
          <a:ln/>
        </p:spPr>
        <p:txBody>
          <a:bodyPr wrap="none" lIns="0" tIns="0" rIns="0" bIns="0" rtlCol="0" anchor="t"/>
          <a:lstStyle/>
          <a:p>
            <a:pPr marL="0" indent="0" algn="l">
              <a:lnSpc>
                <a:spcPct val="104000"/>
              </a:lnSpc>
              <a:buNone/>
            </a:pPr>
            <a:r>
              <a:rPr lang="en-US" sz="1800" dirty="0">
                <a:solidFill>
                  <a:srgbClr val="FFFFFF"/>
                </a:solidFill>
                <a:latin typeface="Kanit" pitchFamily="34" charset="0"/>
                <a:ea typeface="Kanit" pitchFamily="34" charset="-122"/>
                <a:cs typeface="Kanit" pitchFamily="34" charset="-120"/>
              </a:rPr>
              <a:t>Advantages and Disadvantages</a:t>
            </a:r>
            <a:endParaRPr lang="en-US" sz="1800" dirty="0"/>
          </a:p>
        </p:txBody>
      </p:sp>
      <p:sp>
        <p:nvSpPr>
          <p:cNvPr id="3" name="Text 1"/>
          <p:cNvSpPr/>
          <p:nvPr/>
        </p:nvSpPr>
        <p:spPr>
          <a:xfrm>
            <a:off x="928464" y="726504"/>
            <a:ext cx="7744197" cy="137368"/>
          </a:xfrm>
          <a:prstGeom prst="rect">
            <a:avLst/>
          </a:prstGeom>
          <a:noFill/>
          <a:ln/>
        </p:spPr>
        <p:txBody>
          <a:bodyPr wrap="none" lIns="0" tIns="0" rIns="0" bIns="0" rtlCol="0" anchor="t"/>
          <a:lstStyle/>
          <a:p>
            <a:pPr marL="0" indent="0" algn="l">
              <a:lnSpc>
                <a:spcPct val="117000"/>
              </a:lnSpc>
              <a:buNone/>
            </a:pPr>
            <a:r>
              <a:rPr lang="en-US" sz="750" dirty="0">
                <a:solidFill>
                  <a:srgbClr val="D9E1FF"/>
                </a:solidFill>
                <a:latin typeface="Martel Sans Light" pitchFamily="34" charset="0"/>
                <a:ea typeface="Martel Sans Light" pitchFamily="34" charset="-122"/>
                <a:cs typeface="Martel Sans Light" pitchFamily="34" charset="-120"/>
              </a:rPr>
              <a:t>Evaluating the dual impact of AI-driven classroom engagement monitoring reveals both significant benefits and important considerations.</a:t>
            </a:r>
            <a:endParaRPr lang="en-US" sz="750" dirty="0"/>
          </a:p>
        </p:txBody>
      </p:sp>
      <p:sp>
        <p:nvSpPr>
          <p:cNvPr id="4" name="Shape 2"/>
          <p:cNvSpPr/>
          <p:nvPr/>
        </p:nvSpPr>
        <p:spPr>
          <a:xfrm>
            <a:off x="928464" y="1029519"/>
            <a:ext cx="635198" cy="168771"/>
          </a:xfrm>
          <a:prstGeom prst="roundRect">
            <a:avLst>
              <a:gd name="adj" fmla="val 6981"/>
            </a:avLst>
          </a:prstGeom>
          <a:solidFill>
            <a:srgbClr val="4C0107"/>
          </a:solidFill>
          <a:ln/>
        </p:spPr>
        <p:txBody>
          <a:bodyPr/>
          <a:lstStyle/>
          <a:p>
            <a:endParaRPr lang="en-US"/>
          </a:p>
        </p:txBody>
      </p:sp>
      <p:sp>
        <p:nvSpPr>
          <p:cNvPr id="5" name="Text 3"/>
          <p:cNvSpPr/>
          <p:nvPr/>
        </p:nvSpPr>
        <p:spPr>
          <a:xfrm>
            <a:off x="987326" y="1058912"/>
            <a:ext cx="974675" cy="109984"/>
          </a:xfrm>
          <a:prstGeom prst="rect">
            <a:avLst/>
          </a:prstGeom>
          <a:noFill/>
          <a:ln/>
        </p:spPr>
        <p:txBody>
          <a:bodyPr wrap="none" lIns="0" tIns="0" rIns="0" bIns="0" rtlCol="0" anchor="t"/>
          <a:lstStyle/>
          <a:p>
            <a:pPr marL="0" indent="0" algn="l">
              <a:lnSpc>
                <a:spcPct val="117000"/>
              </a:lnSpc>
              <a:buNone/>
            </a:pPr>
            <a:r>
              <a:rPr lang="en-US" sz="600" dirty="0">
                <a:solidFill>
                  <a:srgbClr val="D9E1FF"/>
                </a:solidFill>
                <a:latin typeface="Martel Sans Light" pitchFamily="34" charset="0"/>
                <a:ea typeface="Martel Sans Light" pitchFamily="34" charset="-122"/>
                <a:cs typeface="Martel Sans Light" pitchFamily="34" charset="-120"/>
              </a:rPr>
              <a:t>ADVANTAGES</a:t>
            </a:r>
            <a:endParaRPr lang="en-US" sz="600" dirty="0"/>
          </a:p>
        </p:txBody>
      </p:sp>
      <p:sp>
        <p:nvSpPr>
          <p:cNvPr id="6" name="Shape 4"/>
          <p:cNvSpPr/>
          <p:nvPr/>
        </p:nvSpPr>
        <p:spPr>
          <a:xfrm>
            <a:off x="928464" y="1281113"/>
            <a:ext cx="1725067" cy="853157"/>
          </a:xfrm>
          <a:prstGeom prst="roundRect">
            <a:avLst>
              <a:gd name="adj" fmla="val 1726"/>
            </a:avLst>
          </a:prstGeom>
          <a:solidFill>
            <a:srgbClr val="2F2B54"/>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26616" y="1379265"/>
            <a:ext cx="294531" cy="294531"/>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7579" y="1460227"/>
            <a:ext cx="132531" cy="132531"/>
          </a:xfrm>
          <a:prstGeom prst="rect">
            <a:avLst/>
          </a:prstGeom>
        </p:spPr>
      </p:pic>
      <p:sp>
        <p:nvSpPr>
          <p:cNvPr id="9" name="Text 5"/>
          <p:cNvSpPr/>
          <p:nvPr/>
        </p:nvSpPr>
        <p:spPr>
          <a:xfrm>
            <a:off x="1026616" y="1747391"/>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Real-time engagement monitoring</a:t>
            </a:r>
            <a:endParaRPr lang="en-US" sz="900" dirty="0"/>
          </a:p>
        </p:txBody>
      </p:sp>
      <p:sp>
        <p:nvSpPr>
          <p:cNvPr id="10" name="Shape 6"/>
          <p:cNvSpPr/>
          <p:nvPr/>
        </p:nvSpPr>
        <p:spPr>
          <a:xfrm>
            <a:off x="2727127" y="1281113"/>
            <a:ext cx="1725067" cy="853157"/>
          </a:xfrm>
          <a:prstGeom prst="roundRect">
            <a:avLst>
              <a:gd name="adj" fmla="val 1726"/>
            </a:avLst>
          </a:prstGeom>
          <a:solidFill>
            <a:srgbClr val="2F2B54"/>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2825279" y="1379265"/>
            <a:ext cx="294531" cy="294531"/>
          </a:xfrm>
          <a:prstGeom prst="rect">
            <a:avLst/>
          </a:prstGeom>
        </p:spPr>
      </p:pic>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06241" y="1460227"/>
            <a:ext cx="132531" cy="132531"/>
          </a:xfrm>
          <a:prstGeom prst="rect">
            <a:avLst/>
          </a:prstGeom>
        </p:spPr>
      </p:pic>
      <p:sp>
        <p:nvSpPr>
          <p:cNvPr id="13" name="Text 7"/>
          <p:cNvSpPr/>
          <p:nvPr/>
        </p:nvSpPr>
        <p:spPr>
          <a:xfrm>
            <a:off x="2825279" y="1747391"/>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Objective and consistent data collection</a:t>
            </a:r>
            <a:endParaRPr lang="en-US" sz="900" dirty="0"/>
          </a:p>
        </p:txBody>
      </p:sp>
      <p:sp>
        <p:nvSpPr>
          <p:cNvPr id="14" name="Shape 8"/>
          <p:cNvSpPr/>
          <p:nvPr/>
        </p:nvSpPr>
        <p:spPr>
          <a:xfrm>
            <a:off x="928464" y="2207865"/>
            <a:ext cx="1725067" cy="853157"/>
          </a:xfrm>
          <a:prstGeom prst="roundRect">
            <a:avLst>
              <a:gd name="adj" fmla="val 1726"/>
            </a:avLst>
          </a:prstGeom>
          <a:solidFill>
            <a:srgbClr val="2F2B54"/>
          </a:solidFill>
          <a:ln/>
        </p:spPr>
        <p:txBody>
          <a:bodyPr/>
          <a:lstStyle/>
          <a:p>
            <a:endParaRPr lang="en-US"/>
          </a:p>
        </p:txBody>
      </p:sp>
      <p:pic>
        <p:nvPicPr>
          <p:cNvPr id="15" name="Image 4" descr="preencoded.png"/>
          <p:cNvPicPr>
            <a:picLocks noChangeAspect="1"/>
          </p:cNvPicPr>
          <p:nvPr/>
        </p:nvPicPr>
        <p:blipFill>
          <a:blip r:embed="rId7"/>
          <a:stretch>
            <a:fillRect/>
          </a:stretch>
        </p:blipFill>
        <p:spPr>
          <a:xfrm>
            <a:off x="1026616" y="2306017"/>
            <a:ext cx="294531" cy="294531"/>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07579" y="2386980"/>
            <a:ext cx="132531" cy="132531"/>
          </a:xfrm>
          <a:prstGeom prst="rect">
            <a:avLst/>
          </a:prstGeom>
        </p:spPr>
      </p:pic>
      <p:sp>
        <p:nvSpPr>
          <p:cNvPr id="17" name="Text 9"/>
          <p:cNvSpPr/>
          <p:nvPr/>
        </p:nvSpPr>
        <p:spPr>
          <a:xfrm>
            <a:off x="1026616" y="2674144"/>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Scalability across multiple classrooms</a:t>
            </a:r>
            <a:endParaRPr lang="en-US" sz="900" dirty="0"/>
          </a:p>
        </p:txBody>
      </p:sp>
      <p:sp>
        <p:nvSpPr>
          <p:cNvPr id="18" name="Shape 10"/>
          <p:cNvSpPr/>
          <p:nvPr/>
        </p:nvSpPr>
        <p:spPr>
          <a:xfrm>
            <a:off x="2727127" y="2207865"/>
            <a:ext cx="1725067" cy="853157"/>
          </a:xfrm>
          <a:prstGeom prst="roundRect">
            <a:avLst>
              <a:gd name="adj" fmla="val 1726"/>
            </a:avLst>
          </a:prstGeom>
          <a:solidFill>
            <a:srgbClr val="2F2B54"/>
          </a:solidFill>
          <a:ln/>
        </p:spPr>
        <p:txBody>
          <a:bodyPr/>
          <a:lstStyle/>
          <a:p>
            <a:endParaRPr lang="en-US"/>
          </a:p>
        </p:txBody>
      </p:sp>
      <p:pic>
        <p:nvPicPr>
          <p:cNvPr id="19" name="Image 6" descr="preencoded.png"/>
          <p:cNvPicPr>
            <a:picLocks noChangeAspect="1"/>
          </p:cNvPicPr>
          <p:nvPr/>
        </p:nvPicPr>
        <p:blipFill>
          <a:blip r:embed="rId9"/>
          <a:stretch>
            <a:fillRect/>
          </a:stretch>
        </p:blipFill>
        <p:spPr>
          <a:xfrm>
            <a:off x="2825279" y="2306017"/>
            <a:ext cx="294531" cy="294531"/>
          </a:xfrm>
          <a:prstGeom prst="rect">
            <a:avLst/>
          </a:prstGeom>
        </p:spPr>
      </p:pic>
      <p:pic>
        <p:nvPicPr>
          <p:cNvPr id="20"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906241" y="2386980"/>
            <a:ext cx="132531" cy="132531"/>
          </a:xfrm>
          <a:prstGeom prst="rect">
            <a:avLst/>
          </a:prstGeom>
        </p:spPr>
      </p:pic>
      <p:sp>
        <p:nvSpPr>
          <p:cNvPr id="21" name="Text 11"/>
          <p:cNvSpPr/>
          <p:nvPr/>
        </p:nvSpPr>
        <p:spPr>
          <a:xfrm>
            <a:off x="2825279" y="2674144"/>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Reduced teacher workload for observation</a:t>
            </a:r>
            <a:endParaRPr lang="en-US" sz="900" dirty="0"/>
          </a:p>
        </p:txBody>
      </p:sp>
      <p:sp>
        <p:nvSpPr>
          <p:cNvPr id="22" name="Shape 12"/>
          <p:cNvSpPr/>
          <p:nvPr/>
        </p:nvSpPr>
        <p:spPr>
          <a:xfrm>
            <a:off x="928464" y="3134618"/>
            <a:ext cx="1725067" cy="853157"/>
          </a:xfrm>
          <a:prstGeom prst="roundRect">
            <a:avLst>
              <a:gd name="adj" fmla="val 1726"/>
            </a:avLst>
          </a:prstGeom>
          <a:solidFill>
            <a:srgbClr val="2F2B54"/>
          </a:solidFill>
          <a:ln/>
        </p:spPr>
        <p:txBody>
          <a:bodyPr/>
          <a:lstStyle/>
          <a:p>
            <a:endParaRPr lang="en-US"/>
          </a:p>
        </p:txBody>
      </p:sp>
      <p:pic>
        <p:nvPicPr>
          <p:cNvPr id="23" name="Image 8" descr="preencoded.png"/>
          <p:cNvPicPr>
            <a:picLocks noChangeAspect="1"/>
          </p:cNvPicPr>
          <p:nvPr/>
        </p:nvPicPr>
        <p:blipFill>
          <a:blip r:embed="rId11"/>
          <a:stretch>
            <a:fillRect/>
          </a:stretch>
        </p:blipFill>
        <p:spPr>
          <a:xfrm>
            <a:off x="1026616" y="3232770"/>
            <a:ext cx="294531" cy="294531"/>
          </a:xfrm>
          <a:prstGeom prst="rect">
            <a:avLst/>
          </a:prstGeom>
        </p:spPr>
      </p:pic>
      <p:pic>
        <p:nvPicPr>
          <p:cNvPr id="24"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107579" y="3313733"/>
            <a:ext cx="132531" cy="132531"/>
          </a:xfrm>
          <a:prstGeom prst="rect">
            <a:avLst/>
          </a:prstGeom>
        </p:spPr>
      </p:pic>
      <p:sp>
        <p:nvSpPr>
          <p:cNvPr id="25" name="Text 13"/>
          <p:cNvSpPr/>
          <p:nvPr/>
        </p:nvSpPr>
        <p:spPr>
          <a:xfrm>
            <a:off x="1026616" y="3600896"/>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Actionable insights for teaching improvement</a:t>
            </a:r>
            <a:endParaRPr lang="en-US" sz="900" dirty="0"/>
          </a:p>
        </p:txBody>
      </p:sp>
      <p:sp>
        <p:nvSpPr>
          <p:cNvPr id="26" name="Shape 14"/>
          <p:cNvSpPr/>
          <p:nvPr/>
        </p:nvSpPr>
        <p:spPr>
          <a:xfrm>
            <a:off x="2727127" y="3134618"/>
            <a:ext cx="1725067" cy="853157"/>
          </a:xfrm>
          <a:prstGeom prst="roundRect">
            <a:avLst>
              <a:gd name="adj" fmla="val 1726"/>
            </a:avLst>
          </a:prstGeom>
          <a:solidFill>
            <a:srgbClr val="2F2B54"/>
          </a:solidFill>
          <a:ln/>
        </p:spPr>
        <p:txBody>
          <a:bodyPr/>
          <a:lstStyle/>
          <a:p>
            <a:endParaRPr lang="en-US"/>
          </a:p>
        </p:txBody>
      </p:sp>
      <p:pic>
        <p:nvPicPr>
          <p:cNvPr id="27" name="Image 10" descr="preencoded.png"/>
          <p:cNvPicPr>
            <a:picLocks noChangeAspect="1"/>
          </p:cNvPicPr>
          <p:nvPr/>
        </p:nvPicPr>
        <p:blipFill>
          <a:blip r:embed="rId13"/>
          <a:stretch>
            <a:fillRect/>
          </a:stretch>
        </p:blipFill>
        <p:spPr>
          <a:xfrm>
            <a:off x="2825279" y="3232770"/>
            <a:ext cx="294531" cy="294531"/>
          </a:xfrm>
          <a:prstGeom prst="rect">
            <a:avLst/>
          </a:prstGeom>
        </p:spPr>
      </p:pic>
      <p:pic>
        <p:nvPicPr>
          <p:cNvPr id="28"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906241" y="3313733"/>
            <a:ext cx="132531" cy="132531"/>
          </a:xfrm>
          <a:prstGeom prst="rect">
            <a:avLst/>
          </a:prstGeom>
        </p:spPr>
      </p:pic>
      <p:sp>
        <p:nvSpPr>
          <p:cNvPr id="29" name="Text 15"/>
          <p:cNvSpPr/>
          <p:nvPr/>
        </p:nvSpPr>
        <p:spPr>
          <a:xfrm>
            <a:off x="2825279" y="3600896"/>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Automated reporting and analytics</a:t>
            </a:r>
            <a:endParaRPr lang="en-US" sz="900" dirty="0"/>
          </a:p>
        </p:txBody>
      </p:sp>
      <p:sp>
        <p:nvSpPr>
          <p:cNvPr id="30" name="Shape 16"/>
          <p:cNvSpPr/>
          <p:nvPr/>
        </p:nvSpPr>
        <p:spPr>
          <a:xfrm>
            <a:off x="928464" y="4061371"/>
            <a:ext cx="3523729" cy="708794"/>
          </a:xfrm>
          <a:prstGeom prst="roundRect">
            <a:avLst>
              <a:gd name="adj" fmla="val 2078"/>
            </a:avLst>
          </a:prstGeom>
          <a:solidFill>
            <a:srgbClr val="2F2B54"/>
          </a:solidFill>
          <a:ln/>
        </p:spPr>
        <p:txBody>
          <a:bodyPr/>
          <a:lstStyle/>
          <a:p>
            <a:endParaRPr lang="en-US"/>
          </a:p>
        </p:txBody>
      </p:sp>
      <p:pic>
        <p:nvPicPr>
          <p:cNvPr id="31" name="Image 12" descr="preencoded.png"/>
          <p:cNvPicPr>
            <a:picLocks noChangeAspect="1"/>
          </p:cNvPicPr>
          <p:nvPr/>
        </p:nvPicPr>
        <p:blipFill>
          <a:blip r:embed="rId15"/>
          <a:stretch>
            <a:fillRect/>
          </a:stretch>
        </p:blipFill>
        <p:spPr>
          <a:xfrm>
            <a:off x="1026616" y="4159523"/>
            <a:ext cx="294531" cy="294531"/>
          </a:xfrm>
          <a:prstGeom prst="rect">
            <a:avLst/>
          </a:prstGeom>
        </p:spPr>
      </p:pic>
      <p:pic>
        <p:nvPicPr>
          <p:cNvPr id="32" name="Image 13" descr="preencoded.png"/>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107579" y="4240485"/>
            <a:ext cx="132531" cy="132531"/>
          </a:xfrm>
          <a:prstGeom prst="rect">
            <a:avLst/>
          </a:prstGeom>
        </p:spPr>
      </p:pic>
      <p:sp>
        <p:nvSpPr>
          <p:cNvPr id="33" name="Text 17"/>
          <p:cNvSpPr/>
          <p:nvPr/>
        </p:nvSpPr>
        <p:spPr>
          <a:xfrm>
            <a:off x="1026616" y="4527649"/>
            <a:ext cx="2039466" cy="144363"/>
          </a:xfrm>
          <a:prstGeom prst="rect">
            <a:avLst/>
          </a:prstGeom>
          <a:noFill/>
          <a:ln/>
        </p:spPr>
        <p:txBody>
          <a:bodyPr wrap="none" lIns="0" tIns="0" rIns="0" bIns="0" rtlCol="0" anchor="t"/>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Improved overall teaching effectiveness</a:t>
            </a:r>
            <a:endParaRPr lang="en-US" sz="900" dirty="0"/>
          </a:p>
        </p:txBody>
      </p:sp>
      <p:sp>
        <p:nvSpPr>
          <p:cNvPr id="34" name="Shape 18"/>
          <p:cNvSpPr/>
          <p:nvPr/>
        </p:nvSpPr>
        <p:spPr>
          <a:xfrm>
            <a:off x="4696420" y="1029519"/>
            <a:ext cx="762521" cy="168771"/>
          </a:xfrm>
          <a:prstGeom prst="roundRect">
            <a:avLst>
              <a:gd name="adj" fmla="val 6981"/>
            </a:avLst>
          </a:prstGeom>
          <a:solidFill>
            <a:srgbClr val="4C0107"/>
          </a:solidFill>
          <a:ln/>
        </p:spPr>
        <p:txBody>
          <a:bodyPr/>
          <a:lstStyle/>
          <a:p>
            <a:endParaRPr lang="en-US"/>
          </a:p>
        </p:txBody>
      </p:sp>
      <p:sp>
        <p:nvSpPr>
          <p:cNvPr id="35" name="Text 19"/>
          <p:cNvSpPr/>
          <p:nvPr/>
        </p:nvSpPr>
        <p:spPr>
          <a:xfrm>
            <a:off x="4755282" y="1058912"/>
            <a:ext cx="1101998" cy="109984"/>
          </a:xfrm>
          <a:prstGeom prst="rect">
            <a:avLst/>
          </a:prstGeom>
          <a:noFill/>
          <a:ln/>
        </p:spPr>
        <p:txBody>
          <a:bodyPr wrap="none" lIns="0" tIns="0" rIns="0" bIns="0" rtlCol="0" anchor="t"/>
          <a:lstStyle/>
          <a:p>
            <a:pPr marL="0" indent="0" algn="l">
              <a:lnSpc>
                <a:spcPct val="117000"/>
              </a:lnSpc>
              <a:buNone/>
            </a:pPr>
            <a:r>
              <a:rPr lang="en-US" sz="600" dirty="0">
                <a:solidFill>
                  <a:srgbClr val="D9E1FF"/>
                </a:solidFill>
                <a:latin typeface="Martel Sans Light" pitchFamily="34" charset="0"/>
                <a:ea typeface="Martel Sans Light" pitchFamily="34" charset="-122"/>
                <a:cs typeface="Martel Sans Light" pitchFamily="34" charset="-120"/>
              </a:rPr>
              <a:t>DISADVANTAGES</a:t>
            </a:r>
            <a:endParaRPr lang="en-US" sz="600" dirty="0"/>
          </a:p>
        </p:txBody>
      </p:sp>
      <p:sp>
        <p:nvSpPr>
          <p:cNvPr id="36" name="Shape 20"/>
          <p:cNvSpPr/>
          <p:nvPr/>
        </p:nvSpPr>
        <p:spPr>
          <a:xfrm>
            <a:off x="4696420" y="1281113"/>
            <a:ext cx="1725067" cy="853157"/>
          </a:xfrm>
          <a:prstGeom prst="roundRect">
            <a:avLst>
              <a:gd name="adj" fmla="val 1726"/>
            </a:avLst>
          </a:prstGeom>
          <a:solidFill>
            <a:srgbClr val="2F2B54"/>
          </a:solidFill>
          <a:ln/>
        </p:spPr>
        <p:txBody>
          <a:bodyPr/>
          <a:lstStyle/>
          <a:p>
            <a:endParaRPr lang="en-US"/>
          </a:p>
        </p:txBody>
      </p:sp>
      <p:sp>
        <p:nvSpPr>
          <p:cNvPr id="37" name="Shape 21"/>
          <p:cNvSpPr/>
          <p:nvPr/>
        </p:nvSpPr>
        <p:spPr>
          <a:xfrm>
            <a:off x="4794572" y="1379265"/>
            <a:ext cx="294531" cy="294531"/>
          </a:xfrm>
          <a:prstGeom prst="roundRect">
            <a:avLst>
              <a:gd name="adj" fmla="val 19401790"/>
            </a:avLst>
          </a:prstGeom>
          <a:solidFill>
            <a:srgbClr val="F28C28"/>
          </a:solidFill>
          <a:ln/>
        </p:spPr>
        <p:txBody>
          <a:bodyPr/>
          <a:lstStyle/>
          <a:p>
            <a:endParaRPr lang="en-US"/>
          </a:p>
        </p:txBody>
      </p:sp>
      <p:pic>
        <p:nvPicPr>
          <p:cNvPr id="38" name="Image 14" descr="preencoded.png"/>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875535" y="1460227"/>
            <a:ext cx="132531" cy="132531"/>
          </a:xfrm>
          <a:prstGeom prst="rect">
            <a:avLst/>
          </a:prstGeom>
        </p:spPr>
      </p:pic>
      <p:sp>
        <p:nvSpPr>
          <p:cNvPr id="39" name="Text 22"/>
          <p:cNvSpPr/>
          <p:nvPr/>
        </p:nvSpPr>
        <p:spPr>
          <a:xfrm>
            <a:off x="4794572" y="1747391"/>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Privacy concerns for students and teachers</a:t>
            </a:r>
            <a:endParaRPr lang="en-US" sz="900" dirty="0"/>
          </a:p>
        </p:txBody>
      </p:sp>
      <p:sp>
        <p:nvSpPr>
          <p:cNvPr id="40" name="Shape 23"/>
          <p:cNvSpPr/>
          <p:nvPr/>
        </p:nvSpPr>
        <p:spPr>
          <a:xfrm>
            <a:off x="6495083" y="1281113"/>
            <a:ext cx="1725067" cy="853157"/>
          </a:xfrm>
          <a:prstGeom prst="roundRect">
            <a:avLst>
              <a:gd name="adj" fmla="val 1726"/>
            </a:avLst>
          </a:prstGeom>
          <a:solidFill>
            <a:srgbClr val="2F2B54"/>
          </a:solidFill>
          <a:ln/>
        </p:spPr>
        <p:txBody>
          <a:bodyPr/>
          <a:lstStyle/>
          <a:p>
            <a:endParaRPr lang="en-US"/>
          </a:p>
        </p:txBody>
      </p:sp>
      <p:sp>
        <p:nvSpPr>
          <p:cNvPr id="41" name="Shape 24"/>
          <p:cNvSpPr/>
          <p:nvPr/>
        </p:nvSpPr>
        <p:spPr>
          <a:xfrm>
            <a:off x="6593235" y="1379265"/>
            <a:ext cx="294531" cy="294531"/>
          </a:xfrm>
          <a:prstGeom prst="roundRect">
            <a:avLst>
              <a:gd name="adj" fmla="val 19401790"/>
            </a:avLst>
          </a:prstGeom>
          <a:solidFill>
            <a:srgbClr val="F28C28"/>
          </a:solidFill>
          <a:ln/>
        </p:spPr>
        <p:txBody>
          <a:bodyPr/>
          <a:lstStyle/>
          <a:p>
            <a:endParaRPr lang="en-US"/>
          </a:p>
        </p:txBody>
      </p:sp>
      <p:pic>
        <p:nvPicPr>
          <p:cNvPr id="42" name="Image 15" descr="preencoded.png"/>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674197" y="1460227"/>
            <a:ext cx="132531" cy="132531"/>
          </a:xfrm>
          <a:prstGeom prst="rect">
            <a:avLst/>
          </a:prstGeom>
        </p:spPr>
      </p:pic>
      <p:sp>
        <p:nvSpPr>
          <p:cNvPr id="43" name="Text 25"/>
          <p:cNvSpPr/>
          <p:nvPr/>
        </p:nvSpPr>
        <p:spPr>
          <a:xfrm>
            <a:off x="6593235" y="1747391"/>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Initial setup and hardware costs</a:t>
            </a:r>
            <a:endParaRPr lang="en-US" sz="900" dirty="0"/>
          </a:p>
        </p:txBody>
      </p:sp>
      <p:sp>
        <p:nvSpPr>
          <p:cNvPr id="44" name="Shape 26"/>
          <p:cNvSpPr/>
          <p:nvPr/>
        </p:nvSpPr>
        <p:spPr>
          <a:xfrm>
            <a:off x="4696420" y="2207865"/>
            <a:ext cx="1725067" cy="853157"/>
          </a:xfrm>
          <a:prstGeom prst="roundRect">
            <a:avLst>
              <a:gd name="adj" fmla="val 1726"/>
            </a:avLst>
          </a:prstGeom>
          <a:solidFill>
            <a:srgbClr val="2F2B54"/>
          </a:solidFill>
          <a:ln/>
        </p:spPr>
        <p:txBody>
          <a:bodyPr/>
          <a:lstStyle/>
          <a:p>
            <a:endParaRPr lang="en-US"/>
          </a:p>
        </p:txBody>
      </p:sp>
      <p:sp>
        <p:nvSpPr>
          <p:cNvPr id="45" name="Shape 27"/>
          <p:cNvSpPr/>
          <p:nvPr/>
        </p:nvSpPr>
        <p:spPr>
          <a:xfrm>
            <a:off x="4794572" y="2306017"/>
            <a:ext cx="294531" cy="294531"/>
          </a:xfrm>
          <a:prstGeom prst="roundRect">
            <a:avLst>
              <a:gd name="adj" fmla="val 19401790"/>
            </a:avLst>
          </a:prstGeom>
          <a:solidFill>
            <a:srgbClr val="F28C28"/>
          </a:solidFill>
          <a:ln/>
        </p:spPr>
        <p:txBody>
          <a:bodyPr/>
          <a:lstStyle/>
          <a:p>
            <a:endParaRPr lang="en-US"/>
          </a:p>
        </p:txBody>
      </p:sp>
      <p:pic>
        <p:nvPicPr>
          <p:cNvPr id="46" name="Image 16" descr="preencoded.png"/>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875535" y="2386980"/>
            <a:ext cx="132531" cy="132531"/>
          </a:xfrm>
          <a:prstGeom prst="rect">
            <a:avLst/>
          </a:prstGeom>
        </p:spPr>
      </p:pic>
      <p:sp>
        <p:nvSpPr>
          <p:cNvPr id="47" name="Text 28"/>
          <p:cNvSpPr/>
          <p:nvPr/>
        </p:nvSpPr>
        <p:spPr>
          <a:xfrm>
            <a:off x="4794572" y="2674144"/>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Technical infrastructure and maintenance needs</a:t>
            </a:r>
            <a:endParaRPr lang="en-US" sz="900" dirty="0"/>
          </a:p>
        </p:txBody>
      </p:sp>
      <p:sp>
        <p:nvSpPr>
          <p:cNvPr id="48" name="Shape 29"/>
          <p:cNvSpPr/>
          <p:nvPr/>
        </p:nvSpPr>
        <p:spPr>
          <a:xfrm>
            <a:off x="6495083" y="2207865"/>
            <a:ext cx="1725067" cy="853157"/>
          </a:xfrm>
          <a:prstGeom prst="roundRect">
            <a:avLst>
              <a:gd name="adj" fmla="val 1726"/>
            </a:avLst>
          </a:prstGeom>
          <a:solidFill>
            <a:srgbClr val="2F2B54"/>
          </a:solidFill>
          <a:ln/>
        </p:spPr>
        <p:txBody>
          <a:bodyPr/>
          <a:lstStyle/>
          <a:p>
            <a:endParaRPr lang="en-US"/>
          </a:p>
        </p:txBody>
      </p:sp>
      <p:sp>
        <p:nvSpPr>
          <p:cNvPr id="49" name="Shape 30"/>
          <p:cNvSpPr/>
          <p:nvPr/>
        </p:nvSpPr>
        <p:spPr>
          <a:xfrm>
            <a:off x="6593235" y="2306017"/>
            <a:ext cx="294531" cy="294531"/>
          </a:xfrm>
          <a:prstGeom prst="roundRect">
            <a:avLst>
              <a:gd name="adj" fmla="val 19401790"/>
            </a:avLst>
          </a:prstGeom>
          <a:solidFill>
            <a:srgbClr val="F28C28"/>
          </a:solidFill>
          <a:ln/>
        </p:spPr>
        <p:txBody>
          <a:bodyPr/>
          <a:lstStyle/>
          <a:p>
            <a:endParaRPr lang="en-US"/>
          </a:p>
        </p:txBody>
      </p:sp>
      <p:pic>
        <p:nvPicPr>
          <p:cNvPr id="50" name="Image 17" descr="preencoded.png"/>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674197" y="2386980"/>
            <a:ext cx="132531" cy="132531"/>
          </a:xfrm>
          <a:prstGeom prst="rect">
            <a:avLst/>
          </a:prstGeom>
        </p:spPr>
      </p:pic>
      <p:sp>
        <p:nvSpPr>
          <p:cNvPr id="51" name="Text 31"/>
          <p:cNvSpPr/>
          <p:nvPr/>
        </p:nvSpPr>
        <p:spPr>
          <a:xfrm>
            <a:off x="6593235" y="2674144"/>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Potential biases in facial recognition algorithms</a:t>
            </a:r>
            <a:endParaRPr lang="en-US" sz="900" dirty="0"/>
          </a:p>
        </p:txBody>
      </p:sp>
      <p:sp>
        <p:nvSpPr>
          <p:cNvPr id="52" name="Shape 32"/>
          <p:cNvSpPr/>
          <p:nvPr/>
        </p:nvSpPr>
        <p:spPr>
          <a:xfrm>
            <a:off x="4696420" y="3134618"/>
            <a:ext cx="1725067" cy="853157"/>
          </a:xfrm>
          <a:prstGeom prst="roundRect">
            <a:avLst>
              <a:gd name="adj" fmla="val 1726"/>
            </a:avLst>
          </a:prstGeom>
          <a:solidFill>
            <a:srgbClr val="2F2B54"/>
          </a:solidFill>
          <a:ln/>
        </p:spPr>
        <p:txBody>
          <a:bodyPr/>
          <a:lstStyle/>
          <a:p>
            <a:endParaRPr lang="en-US"/>
          </a:p>
        </p:txBody>
      </p:sp>
      <p:sp>
        <p:nvSpPr>
          <p:cNvPr id="53" name="Shape 33"/>
          <p:cNvSpPr/>
          <p:nvPr/>
        </p:nvSpPr>
        <p:spPr>
          <a:xfrm>
            <a:off x="4794572" y="3232770"/>
            <a:ext cx="294531" cy="294531"/>
          </a:xfrm>
          <a:prstGeom prst="roundRect">
            <a:avLst>
              <a:gd name="adj" fmla="val 19401790"/>
            </a:avLst>
          </a:prstGeom>
          <a:solidFill>
            <a:srgbClr val="F28C28"/>
          </a:solidFill>
          <a:ln/>
        </p:spPr>
        <p:txBody>
          <a:bodyPr/>
          <a:lstStyle/>
          <a:p>
            <a:endParaRPr lang="en-US"/>
          </a:p>
        </p:txBody>
      </p:sp>
      <p:pic>
        <p:nvPicPr>
          <p:cNvPr id="54" name="Image 18" descr="preencoded.png"/>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875535" y="3313733"/>
            <a:ext cx="132531" cy="132531"/>
          </a:xfrm>
          <a:prstGeom prst="rect">
            <a:avLst/>
          </a:prstGeom>
        </p:spPr>
      </p:pic>
      <p:sp>
        <p:nvSpPr>
          <p:cNvPr id="55" name="Text 34"/>
          <p:cNvSpPr/>
          <p:nvPr/>
        </p:nvSpPr>
        <p:spPr>
          <a:xfrm>
            <a:off x="4794572" y="3600896"/>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Requires training for educators on system use</a:t>
            </a:r>
            <a:endParaRPr lang="en-US" sz="900" dirty="0"/>
          </a:p>
        </p:txBody>
      </p:sp>
      <p:sp>
        <p:nvSpPr>
          <p:cNvPr id="56" name="Shape 35"/>
          <p:cNvSpPr/>
          <p:nvPr/>
        </p:nvSpPr>
        <p:spPr>
          <a:xfrm>
            <a:off x="6495083" y="3134618"/>
            <a:ext cx="1725067" cy="853157"/>
          </a:xfrm>
          <a:prstGeom prst="roundRect">
            <a:avLst>
              <a:gd name="adj" fmla="val 1726"/>
            </a:avLst>
          </a:prstGeom>
          <a:solidFill>
            <a:srgbClr val="2F2B54"/>
          </a:solidFill>
          <a:ln/>
        </p:spPr>
        <p:txBody>
          <a:bodyPr/>
          <a:lstStyle/>
          <a:p>
            <a:endParaRPr lang="en-US"/>
          </a:p>
        </p:txBody>
      </p:sp>
      <p:sp>
        <p:nvSpPr>
          <p:cNvPr id="57" name="Shape 36"/>
          <p:cNvSpPr/>
          <p:nvPr/>
        </p:nvSpPr>
        <p:spPr>
          <a:xfrm>
            <a:off x="6593235" y="3232770"/>
            <a:ext cx="294531" cy="294531"/>
          </a:xfrm>
          <a:prstGeom prst="roundRect">
            <a:avLst>
              <a:gd name="adj" fmla="val 19401790"/>
            </a:avLst>
          </a:prstGeom>
          <a:solidFill>
            <a:srgbClr val="F28C28"/>
          </a:solidFill>
          <a:ln/>
        </p:spPr>
        <p:txBody>
          <a:bodyPr/>
          <a:lstStyle/>
          <a:p>
            <a:endParaRPr lang="en-US"/>
          </a:p>
        </p:txBody>
      </p:sp>
      <p:pic>
        <p:nvPicPr>
          <p:cNvPr id="58" name="Image 19" descr="preencoded.png"/>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674197" y="3313733"/>
            <a:ext cx="132531" cy="132531"/>
          </a:xfrm>
          <a:prstGeom prst="rect">
            <a:avLst/>
          </a:prstGeom>
        </p:spPr>
      </p:pic>
      <p:sp>
        <p:nvSpPr>
          <p:cNvPr id="59" name="Text 37"/>
          <p:cNvSpPr/>
          <p:nvPr/>
        </p:nvSpPr>
        <p:spPr>
          <a:xfrm>
            <a:off x="6593235" y="3600896"/>
            <a:ext cx="1528763" cy="288727"/>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Data security and storage considerations</a:t>
            </a:r>
            <a:endParaRPr lang="en-US" sz="900" dirty="0"/>
          </a:p>
        </p:txBody>
      </p:sp>
      <p:sp>
        <p:nvSpPr>
          <p:cNvPr id="60" name="Shape 38"/>
          <p:cNvSpPr/>
          <p:nvPr/>
        </p:nvSpPr>
        <p:spPr>
          <a:xfrm>
            <a:off x="4696420" y="4061371"/>
            <a:ext cx="3523729" cy="708794"/>
          </a:xfrm>
          <a:prstGeom prst="roundRect">
            <a:avLst>
              <a:gd name="adj" fmla="val 2078"/>
            </a:avLst>
          </a:prstGeom>
          <a:solidFill>
            <a:srgbClr val="2F2B54"/>
          </a:solidFill>
          <a:ln/>
        </p:spPr>
        <p:txBody>
          <a:bodyPr/>
          <a:lstStyle/>
          <a:p>
            <a:endParaRPr lang="en-US"/>
          </a:p>
        </p:txBody>
      </p:sp>
      <p:sp>
        <p:nvSpPr>
          <p:cNvPr id="61" name="Shape 39"/>
          <p:cNvSpPr/>
          <p:nvPr/>
        </p:nvSpPr>
        <p:spPr>
          <a:xfrm>
            <a:off x="4794572" y="4159523"/>
            <a:ext cx="294531" cy="294531"/>
          </a:xfrm>
          <a:prstGeom prst="roundRect">
            <a:avLst>
              <a:gd name="adj" fmla="val 19401790"/>
            </a:avLst>
          </a:prstGeom>
          <a:solidFill>
            <a:srgbClr val="F28C28"/>
          </a:solidFill>
          <a:ln/>
        </p:spPr>
        <p:txBody>
          <a:bodyPr/>
          <a:lstStyle/>
          <a:p>
            <a:endParaRPr lang="en-US"/>
          </a:p>
        </p:txBody>
      </p:sp>
      <p:pic>
        <p:nvPicPr>
          <p:cNvPr id="62" name="Image 20" descr="preencoded.png"/>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4875535" y="4240485"/>
            <a:ext cx="132531" cy="132531"/>
          </a:xfrm>
          <a:prstGeom prst="rect">
            <a:avLst/>
          </a:prstGeom>
        </p:spPr>
      </p:pic>
      <p:sp>
        <p:nvSpPr>
          <p:cNvPr id="63" name="Text 40"/>
          <p:cNvSpPr/>
          <p:nvPr/>
        </p:nvSpPr>
        <p:spPr>
          <a:xfrm>
            <a:off x="4794572" y="4527649"/>
            <a:ext cx="2592884" cy="144363"/>
          </a:xfrm>
          <a:prstGeom prst="rect">
            <a:avLst/>
          </a:prstGeom>
          <a:noFill/>
          <a:ln/>
        </p:spPr>
        <p:txBody>
          <a:bodyPr wrap="none" lIns="0" tIns="0" rIns="0" bIns="0" rtlCol="0" anchor="t"/>
          <a:lstStyle/>
          <a:p>
            <a:pPr marL="0" indent="0" algn="l">
              <a:lnSpc>
                <a:spcPct val="104000"/>
              </a:lnSpc>
              <a:buNone/>
            </a:pPr>
            <a:r>
              <a:rPr lang="en-US" sz="900" dirty="0">
                <a:solidFill>
                  <a:srgbClr val="D9E1FF"/>
                </a:solidFill>
                <a:latin typeface="Kanit" pitchFamily="34" charset="0"/>
                <a:ea typeface="Kanit" pitchFamily="34" charset="-122"/>
                <a:cs typeface="Kanit" pitchFamily="34" charset="-120"/>
              </a:rPr>
              <a:t>Limitations in detecting complex emotional states</a:t>
            </a:r>
            <a:endParaRPr lang="en-US" sz="900" dirty="0"/>
          </a:p>
        </p:txBody>
      </p:sp>
      <p:pic>
        <p:nvPicPr>
          <p:cNvPr id="65" name="Picture 64">
            <a:extLst>
              <a:ext uri="{FF2B5EF4-FFF2-40B4-BE49-F238E27FC236}">
                <a16:creationId xmlns:a16="http://schemas.microsoft.com/office/drawing/2014/main" id="{BA1ABBA7-54F7-1CF1-3CCA-0DD241EE0C76}"/>
              </a:ext>
            </a:extLst>
          </p:cNvPr>
          <p:cNvPicPr>
            <a:picLocks noChangeAspect="1"/>
          </p:cNvPicPr>
          <p:nvPr/>
        </p:nvPicPr>
        <p:blipFill>
          <a:blip r:embed="rId24"/>
          <a:stretch>
            <a:fillRect/>
          </a:stretch>
        </p:blipFill>
        <p:spPr>
          <a:xfrm>
            <a:off x="7855527" y="4780407"/>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24855" y="350937"/>
            <a:ext cx="2959894" cy="312762"/>
          </a:xfrm>
          <a:prstGeom prst="rect">
            <a:avLst/>
          </a:prstGeom>
          <a:noFill/>
          <a:ln/>
        </p:spPr>
        <p:txBody>
          <a:bodyPr wrap="none" lIns="0" tIns="0" rIns="0" bIns="0" rtlCol="0" anchor="t"/>
          <a:lstStyle/>
          <a:p>
            <a:pPr marL="0" indent="0" algn="l">
              <a:lnSpc>
                <a:spcPct val="104000"/>
              </a:lnSpc>
              <a:buNone/>
            </a:pPr>
            <a:r>
              <a:rPr lang="en-US" sz="1950" dirty="0">
                <a:solidFill>
                  <a:srgbClr val="FFFFFF"/>
                </a:solidFill>
                <a:latin typeface="Kanit" pitchFamily="34" charset="0"/>
                <a:ea typeface="Kanit" pitchFamily="34" charset="-122"/>
                <a:cs typeface="Kanit" pitchFamily="34" charset="-120"/>
              </a:rPr>
              <a:t>Future Enhancement</a:t>
            </a:r>
            <a:endParaRPr lang="en-US" sz="1950" dirty="0"/>
          </a:p>
        </p:txBody>
      </p:sp>
      <p:sp>
        <p:nvSpPr>
          <p:cNvPr id="3" name="Text 1"/>
          <p:cNvSpPr/>
          <p:nvPr/>
        </p:nvSpPr>
        <p:spPr>
          <a:xfrm>
            <a:off x="624855" y="836488"/>
            <a:ext cx="7894290" cy="308372"/>
          </a:xfrm>
          <a:prstGeom prst="rect">
            <a:avLst/>
          </a:prstGeom>
          <a:noFill/>
          <a:ln/>
        </p:spPr>
        <p:txBody>
          <a:bodyPr wrap="square" lIns="0" tIns="0" rIns="0" bIns="0" rtlCol="0" anchor="t">
            <a:normAutofit/>
          </a:bodyPr>
          <a:lstStyle/>
          <a:p>
            <a:pPr marL="0" indent="0" algn="l">
              <a:lnSpc>
                <a:spcPct val="121000"/>
              </a:lnSpc>
              <a:buNone/>
            </a:pPr>
            <a:r>
              <a:rPr lang="en-US" sz="800" dirty="0">
                <a:solidFill>
                  <a:srgbClr val="D9E1FF"/>
                </a:solidFill>
                <a:latin typeface="Martel Sans Light" pitchFamily="34" charset="0"/>
                <a:ea typeface="Martel Sans Light" pitchFamily="34" charset="-122"/>
                <a:cs typeface="Martel Sans Light" pitchFamily="34" charset="-120"/>
              </a:rPr>
              <a:t>The current system establishes a strong foundation. The following enhancements are planned to evolve this into a full-scale smart classroom intelligence platform.</a:t>
            </a:r>
            <a:endParaRPr lang="en-US" sz="800" dirty="0"/>
          </a:p>
        </p:txBody>
      </p:sp>
      <p:sp>
        <p:nvSpPr>
          <p:cNvPr id="4" name="Shape 2"/>
          <p:cNvSpPr/>
          <p:nvPr/>
        </p:nvSpPr>
        <p:spPr>
          <a:xfrm>
            <a:off x="624855" y="1242045"/>
            <a:ext cx="789384" cy="575072"/>
          </a:xfrm>
          <a:prstGeom prst="roundRect">
            <a:avLst>
              <a:gd name="adj" fmla="val 2774"/>
            </a:avLst>
          </a:prstGeom>
          <a:solidFill>
            <a:srgbClr val="2F2B54"/>
          </a:solidFill>
          <a:ln/>
        </p:spPr>
        <p:txBody>
          <a:bodyPr/>
          <a:lstStyle/>
          <a:p>
            <a:endParaRPr lang="en-US"/>
          </a:p>
        </p:txBody>
      </p:sp>
      <p:sp>
        <p:nvSpPr>
          <p:cNvPr id="5" name="Text 3"/>
          <p:cNvSpPr/>
          <p:nvPr/>
        </p:nvSpPr>
        <p:spPr>
          <a:xfrm>
            <a:off x="944761" y="1436117"/>
            <a:ext cx="149572" cy="186928"/>
          </a:xfrm>
          <a:prstGeom prst="rect">
            <a:avLst/>
          </a:prstGeom>
          <a:noFill/>
          <a:ln/>
        </p:spPr>
        <p:txBody>
          <a:bodyPr wrap="none" lIns="0" tIns="0" rIns="0" bIns="0" rtlCol="0" anchor="ctr"/>
          <a:lstStyle/>
          <a:p>
            <a:pPr marL="0" indent="0" algn="ctr">
              <a:lnSpc>
                <a:spcPct val="100000"/>
              </a:lnSpc>
              <a:buNone/>
            </a:pPr>
            <a:r>
              <a:rPr lang="en-US" sz="1150" dirty="0">
                <a:solidFill>
                  <a:srgbClr val="D9E1FF"/>
                </a:solidFill>
                <a:latin typeface="Kanit" pitchFamily="34" charset="0"/>
                <a:ea typeface="Kanit" pitchFamily="34" charset="-122"/>
                <a:cs typeface="Kanit" pitchFamily="34" charset="-120"/>
              </a:rPr>
              <a:t>1</a:t>
            </a:r>
            <a:endParaRPr lang="en-US" sz="1150" dirty="0"/>
          </a:p>
        </p:txBody>
      </p:sp>
      <p:sp>
        <p:nvSpPr>
          <p:cNvPr id="6" name="Text 4"/>
          <p:cNvSpPr/>
          <p:nvPr/>
        </p:nvSpPr>
        <p:spPr>
          <a:xfrm>
            <a:off x="1520577" y="1348383"/>
            <a:ext cx="1251347" cy="156418"/>
          </a:xfrm>
          <a:prstGeom prst="rect">
            <a:avLst/>
          </a:prstGeom>
          <a:noFill/>
          <a:ln/>
        </p:spPr>
        <p:txBody>
          <a:bodyPr wrap="none" lIns="0" tIns="0" rIns="0" bIns="0" rtlCol="0" anchor="t"/>
          <a:lstStyle/>
          <a:p>
            <a:pPr marL="0" indent="0" algn="l">
              <a:lnSpc>
                <a:spcPct val="104000"/>
              </a:lnSpc>
              <a:buNone/>
            </a:pPr>
            <a:r>
              <a:rPr lang="en-US" sz="950" dirty="0">
                <a:solidFill>
                  <a:srgbClr val="D9E1FF"/>
                </a:solidFill>
                <a:latin typeface="Kanit" pitchFamily="34" charset="0"/>
                <a:ea typeface="Kanit" pitchFamily="34" charset="-122"/>
                <a:cs typeface="Kanit" pitchFamily="34" charset="-120"/>
              </a:rPr>
              <a:t>Cloud Deployment</a:t>
            </a:r>
            <a:endParaRPr lang="en-US" sz="950" dirty="0"/>
          </a:p>
        </p:txBody>
      </p:sp>
      <p:sp>
        <p:nvSpPr>
          <p:cNvPr id="7" name="Text 5"/>
          <p:cNvSpPr/>
          <p:nvPr/>
        </p:nvSpPr>
        <p:spPr>
          <a:xfrm>
            <a:off x="1520577" y="1556593"/>
            <a:ext cx="6026200" cy="154186"/>
          </a:xfrm>
          <a:prstGeom prst="rect">
            <a:avLst/>
          </a:prstGeom>
          <a:noFill/>
          <a:ln/>
        </p:spPr>
        <p:txBody>
          <a:bodyPr wrap="none" lIns="0" tIns="0" rIns="0" bIns="0" rtlCol="0" anchor="t"/>
          <a:lstStyle/>
          <a:p>
            <a:pPr marL="0" indent="0" algn="l">
              <a:lnSpc>
                <a:spcPct val="121000"/>
              </a:lnSpc>
              <a:buNone/>
            </a:pPr>
            <a:r>
              <a:rPr lang="en-US" sz="800" dirty="0">
                <a:solidFill>
                  <a:srgbClr val="D9E1FF"/>
                </a:solidFill>
                <a:latin typeface="Martel Sans Light" pitchFamily="34" charset="0"/>
                <a:ea typeface="Martel Sans Light" pitchFamily="34" charset="-122"/>
                <a:cs typeface="Martel Sans Light" pitchFamily="34" charset="-120"/>
              </a:rPr>
              <a:t>Migrate to a cloud-native architecture (AWS/GCP) for scalable, multi-institution access and centralized data management.</a:t>
            </a:r>
            <a:endParaRPr lang="en-US" sz="800" dirty="0"/>
          </a:p>
        </p:txBody>
      </p:sp>
      <p:sp>
        <p:nvSpPr>
          <p:cNvPr id="8" name="Shape 6"/>
          <p:cNvSpPr/>
          <p:nvPr/>
        </p:nvSpPr>
        <p:spPr>
          <a:xfrm>
            <a:off x="1467371" y="1811164"/>
            <a:ext cx="6998643" cy="7144"/>
          </a:xfrm>
          <a:prstGeom prst="roundRect">
            <a:avLst>
              <a:gd name="adj" fmla="val 223332"/>
            </a:avLst>
          </a:prstGeom>
          <a:solidFill>
            <a:srgbClr val="48446D"/>
          </a:solidFill>
          <a:ln/>
        </p:spPr>
        <p:txBody>
          <a:bodyPr/>
          <a:lstStyle/>
          <a:p>
            <a:endParaRPr lang="en-US"/>
          </a:p>
        </p:txBody>
      </p:sp>
      <p:sp>
        <p:nvSpPr>
          <p:cNvPr id="9" name="Shape 7"/>
          <p:cNvSpPr/>
          <p:nvPr/>
        </p:nvSpPr>
        <p:spPr>
          <a:xfrm>
            <a:off x="624855" y="1870249"/>
            <a:ext cx="1578843" cy="575072"/>
          </a:xfrm>
          <a:prstGeom prst="roundRect">
            <a:avLst>
              <a:gd name="adj" fmla="val 2774"/>
            </a:avLst>
          </a:prstGeom>
          <a:solidFill>
            <a:srgbClr val="2F2B54"/>
          </a:solidFill>
          <a:ln/>
        </p:spPr>
        <p:txBody>
          <a:bodyPr/>
          <a:lstStyle/>
          <a:p>
            <a:endParaRPr lang="en-US"/>
          </a:p>
        </p:txBody>
      </p:sp>
      <p:sp>
        <p:nvSpPr>
          <p:cNvPr id="10" name="Text 8"/>
          <p:cNvSpPr/>
          <p:nvPr/>
        </p:nvSpPr>
        <p:spPr>
          <a:xfrm>
            <a:off x="1339453" y="2064321"/>
            <a:ext cx="149572" cy="186928"/>
          </a:xfrm>
          <a:prstGeom prst="rect">
            <a:avLst/>
          </a:prstGeom>
          <a:noFill/>
          <a:ln/>
        </p:spPr>
        <p:txBody>
          <a:bodyPr wrap="none" lIns="0" tIns="0" rIns="0" bIns="0" rtlCol="0" anchor="ctr"/>
          <a:lstStyle/>
          <a:p>
            <a:pPr marL="0" indent="0" algn="ctr">
              <a:lnSpc>
                <a:spcPct val="100000"/>
              </a:lnSpc>
              <a:buNone/>
            </a:pPr>
            <a:r>
              <a:rPr lang="en-US" sz="1150" dirty="0">
                <a:solidFill>
                  <a:srgbClr val="D9E1FF"/>
                </a:solidFill>
                <a:latin typeface="Kanit" pitchFamily="34" charset="0"/>
                <a:ea typeface="Kanit" pitchFamily="34" charset="-122"/>
                <a:cs typeface="Kanit" pitchFamily="34" charset="-120"/>
              </a:rPr>
              <a:t>2</a:t>
            </a:r>
            <a:endParaRPr lang="en-US" sz="1150" dirty="0"/>
          </a:p>
        </p:txBody>
      </p:sp>
      <p:sp>
        <p:nvSpPr>
          <p:cNvPr id="11" name="Text 9"/>
          <p:cNvSpPr/>
          <p:nvPr/>
        </p:nvSpPr>
        <p:spPr>
          <a:xfrm>
            <a:off x="2310036" y="1976586"/>
            <a:ext cx="1251347" cy="156418"/>
          </a:xfrm>
          <a:prstGeom prst="rect">
            <a:avLst/>
          </a:prstGeom>
          <a:noFill/>
          <a:ln/>
        </p:spPr>
        <p:txBody>
          <a:bodyPr wrap="none" lIns="0" tIns="0" rIns="0" bIns="0" rtlCol="0" anchor="t"/>
          <a:lstStyle/>
          <a:p>
            <a:pPr marL="0" indent="0" algn="l">
              <a:lnSpc>
                <a:spcPct val="104000"/>
              </a:lnSpc>
              <a:buNone/>
            </a:pPr>
            <a:r>
              <a:rPr lang="en-US" sz="950" dirty="0">
                <a:solidFill>
                  <a:srgbClr val="D9E1FF"/>
                </a:solidFill>
                <a:latin typeface="Kanit" pitchFamily="34" charset="0"/>
                <a:ea typeface="Kanit" pitchFamily="34" charset="-122"/>
                <a:cs typeface="Kanit" pitchFamily="34" charset="-120"/>
              </a:rPr>
              <a:t>Mobile Application</a:t>
            </a:r>
            <a:endParaRPr lang="en-US" sz="950" dirty="0"/>
          </a:p>
        </p:txBody>
      </p:sp>
      <p:sp>
        <p:nvSpPr>
          <p:cNvPr id="12" name="Text 10"/>
          <p:cNvSpPr/>
          <p:nvPr/>
        </p:nvSpPr>
        <p:spPr>
          <a:xfrm>
            <a:off x="2310036" y="2184797"/>
            <a:ext cx="5467722" cy="154186"/>
          </a:xfrm>
          <a:prstGeom prst="rect">
            <a:avLst/>
          </a:prstGeom>
          <a:noFill/>
          <a:ln/>
        </p:spPr>
        <p:txBody>
          <a:bodyPr wrap="none" lIns="0" tIns="0" rIns="0" bIns="0" rtlCol="0" anchor="t"/>
          <a:lstStyle/>
          <a:p>
            <a:pPr marL="0" indent="0" algn="l">
              <a:lnSpc>
                <a:spcPct val="121000"/>
              </a:lnSpc>
              <a:buNone/>
            </a:pPr>
            <a:r>
              <a:rPr lang="en-US" sz="800" dirty="0">
                <a:solidFill>
                  <a:srgbClr val="D9E1FF"/>
                </a:solidFill>
                <a:latin typeface="Martel Sans Light" pitchFamily="34" charset="0"/>
                <a:ea typeface="Martel Sans Light" pitchFamily="34" charset="-122"/>
                <a:cs typeface="Martel Sans Light" pitchFamily="34" charset="-120"/>
              </a:rPr>
              <a:t>Develop iOS and Android apps enabling teachers to monitor engagement remotely and receive real-time alerts.</a:t>
            </a:r>
            <a:endParaRPr lang="en-US" sz="800" dirty="0"/>
          </a:p>
        </p:txBody>
      </p:sp>
      <p:sp>
        <p:nvSpPr>
          <p:cNvPr id="13" name="Shape 11"/>
          <p:cNvSpPr/>
          <p:nvPr/>
        </p:nvSpPr>
        <p:spPr>
          <a:xfrm>
            <a:off x="2256830" y="2439367"/>
            <a:ext cx="6209184" cy="7144"/>
          </a:xfrm>
          <a:prstGeom prst="roundRect">
            <a:avLst>
              <a:gd name="adj" fmla="val 223332"/>
            </a:avLst>
          </a:prstGeom>
          <a:solidFill>
            <a:srgbClr val="48446D"/>
          </a:solidFill>
          <a:ln/>
        </p:spPr>
        <p:txBody>
          <a:bodyPr/>
          <a:lstStyle/>
          <a:p>
            <a:endParaRPr lang="en-US"/>
          </a:p>
        </p:txBody>
      </p:sp>
      <p:sp>
        <p:nvSpPr>
          <p:cNvPr id="14" name="Shape 12"/>
          <p:cNvSpPr/>
          <p:nvPr/>
        </p:nvSpPr>
        <p:spPr>
          <a:xfrm>
            <a:off x="624855" y="2498452"/>
            <a:ext cx="2368228" cy="729258"/>
          </a:xfrm>
          <a:prstGeom prst="roundRect">
            <a:avLst>
              <a:gd name="adj" fmla="val 2188"/>
            </a:avLst>
          </a:prstGeom>
          <a:solidFill>
            <a:srgbClr val="2F2B54"/>
          </a:solidFill>
          <a:ln/>
        </p:spPr>
        <p:txBody>
          <a:bodyPr/>
          <a:lstStyle/>
          <a:p>
            <a:endParaRPr lang="en-US"/>
          </a:p>
        </p:txBody>
      </p:sp>
      <p:sp>
        <p:nvSpPr>
          <p:cNvPr id="15" name="Text 13"/>
          <p:cNvSpPr/>
          <p:nvPr/>
        </p:nvSpPr>
        <p:spPr>
          <a:xfrm>
            <a:off x="1734145" y="2769617"/>
            <a:ext cx="149572" cy="186928"/>
          </a:xfrm>
          <a:prstGeom prst="rect">
            <a:avLst/>
          </a:prstGeom>
          <a:noFill/>
          <a:ln/>
        </p:spPr>
        <p:txBody>
          <a:bodyPr wrap="none" lIns="0" tIns="0" rIns="0" bIns="0" rtlCol="0" anchor="ctr"/>
          <a:lstStyle/>
          <a:p>
            <a:pPr marL="0" indent="0" algn="ctr">
              <a:lnSpc>
                <a:spcPct val="100000"/>
              </a:lnSpc>
              <a:buNone/>
            </a:pPr>
            <a:r>
              <a:rPr lang="en-US" sz="1150" dirty="0">
                <a:solidFill>
                  <a:srgbClr val="D9E1FF"/>
                </a:solidFill>
                <a:latin typeface="Kanit" pitchFamily="34" charset="0"/>
                <a:ea typeface="Kanit" pitchFamily="34" charset="-122"/>
                <a:cs typeface="Kanit" pitchFamily="34" charset="-120"/>
              </a:rPr>
              <a:t>3</a:t>
            </a:r>
            <a:endParaRPr lang="en-US" sz="1150" dirty="0"/>
          </a:p>
        </p:txBody>
      </p:sp>
      <p:sp>
        <p:nvSpPr>
          <p:cNvPr id="16" name="Text 14"/>
          <p:cNvSpPr/>
          <p:nvPr/>
        </p:nvSpPr>
        <p:spPr>
          <a:xfrm>
            <a:off x="3099420" y="2604790"/>
            <a:ext cx="1251347" cy="156418"/>
          </a:xfrm>
          <a:prstGeom prst="rect">
            <a:avLst/>
          </a:prstGeom>
          <a:noFill/>
          <a:ln/>
        </p:spPr>
        <p:txBody>
          <a:bodyPr wrap="none" lIns="0" tIns="0" rIns="0" bIns="0" rtlCol="0" anchor="t"/>
          <a:lstStyle/>
          <a:p>
            <a:pPr marL="0" indent="0" algn="l">
              <a:lnSpc>
                <a:spcPct val="104000"/>
              </a:lnSpc>
              <a:buNone/>
            </a:pPr>
            <a:r>
              <a:rPr lang="en-US" sz="950" dirty="0">
                <a:solidFill>
                  <a:srgbClr val="D9E1FF"/>
                </a:solidFill>
                <a:latin typeface="Kanit" pitchFamily="34" charset="0"/>
                <a:ea typeface="Kanit" pitchFamily="34" charset="-122"/>
                <a:cs typeface="Kanit" pitchFamily="34" charset="-120"/>
              </a:rPr>
              <a:t>Emotion Recognition</a:t>
            </a:r>
            <a:endParaRPr lang="en-US" sz="950" dirty="0"/>
          </a:p>
        </p:txBody>
      </p:sp>
      <p:sp>
        <p:nvSpPr>
          <p:cNvPr id="17" name="Text 15"/>
          <p:cNvSpPr/>
          <p:nvPr/>
        </p:nvSpPr>
        <p:spPr>
          <a:xfrm>
            <a:off x="3099420" y="2813000"/>
            <a:ext cx="5313387" cy="308372"/>
          </a:xfrm>
          <a:prstGeom prst="rect">
            <a:avLst/>
          </a:prstGeom>
          <a:noFill/>
          <a:ln/>
        </p:spPr>
        <p:txBody>
          <a:bodyPr wrap="square" lIns="0" tIns="0" rIns="0" bIns="0" rtlCol="0" anchor="t">
            <a:normAutofit/>
          </a:bodyPr>
          <a:lstStyle/>
          <a:p>
            <a:pPr marL="0" indent="0" algn="l">
              <a:lnSpc>
                <a:spcPct val="121000"/>
              </a:lnSpc>
              <a:buNone/>
            </a:pPr>
            <a:r>
              <a:rPr lang="en-US" sz="800" dirty="0">
                <a:solidFill>
                  <a:srgbClr val="D9E1FF"/>
                </a:solidFill>
                <a:latin typeface="Martel Sans Light" pitchFamily="34" charset="0"/>
                <a:ea typeface="Martel Sans Light" pitchFamily="34" charset="-122"/>
                <a:cs typeface="Martel Sans Light" pitchFamily="34" charset="-120"/>
              </a:rPr>
              <a:t>Integrate deep learning models (e.g., FER, AffectNet) to detect emotional states — confusion, boredom, excitement — alongside engagement.</a:t>
            </a:r>
            <a:endParaRPr lang="en-US" sz="800" dirty="0"/>
          </a:p>
        </p:txBody>
      </p:sp>
      <p:sp>
        <p:nvSpPr>
          <p:cNvPr id="18" name="Shape 16"/>
          <p:cNvSpPr/>
          <p:nvPr/>
        </p:nvSpPr>
        <p:spPr>
          <a:xfrm>
            <a:off x="3046214" y="3221757"/>
            <a:ext cx="5419799" cy="7144"/>
          </a:xfrm>
          <a:prstGeom prst="roundRect">
            <a:avLst>
              <a:gd name="adj" fmla="val 223332"/>
            </a:avLst>
          </a:prstGeom>
          <a:solidFill>
            <a:srgbClr val="48446D"/>
          </a:solidFill>
          <a:ln/>
        </p:spPr>
        <p:txBody>
          <a:bodyPr/>
          <a:lstStyle/>
          <a:p>
            <a:endParaRPr lang="en-US"/>
          </a:p>
        </p:txBody>
      </p:sp>
      <p:sp>
        <p:nvSpPr>
          <p:cNvPr id="19" name="Shape 17"/>
          <p:cNvSpPr/>
          <p:nvPr/>
        </p:nvSpPr>
        <p:spPr>
          <a:xfrm>
            <a:off x="624855" y="3280842"/>
            <a:ext cx="3157686" cy="729258"/>
          </a:xfrm>
          <a:prstGeom prst="roundRect">
            <a:avLst>
              <a:gd name="adj" fmla="val 2188"/>
            </a:avLst>
          </a:prstGeom>
          <a:solidFill>
            <a:srgbClr val="2F2B54"/>
          </a:solidFill>
          <a:ln/>
        </p:spPr>
        <p:txBody>
          <a:bodyPr/>
          <a:lstStyle/>
          <a:p>
            <a:endParaRPr lang="en-US"/>
          </a:p>
        </p:txBody>
      </p:sp>
      <p:sp>
        <p:nvSpPr>
          <p:cNvPr id="20" name="Text 18"/>
          <p:cNvSpPr/>
          <p:nvPr/>
        </p:nvSpPr>
        <p:spPr>
          <a:xfrm>
            <a:off x="2128912" y="3552006"/>
            <a:ext cx="149572" cy="186928"/>
          </a:xfrm>
          <a:prstGeom prst="rect">
            <a:avLst/>
          </a:prstGeom>
          <a:noFill/>
          <a:ln/>
        </p:spPr>
        <p:txBody>
          <a:bodyPr wrap="none" lIns="0" tIns="0" rIns="0" bIns="0" rtlCol="0" anchor="ctr"/>
          <a:lstStyle/>
          <a:p>
            <a:pPr marL="0" indent="0" algn="ctr">
              <a:lnSpc>
                <a:spcPct val="100000"/>
              </a:lnSpc>
              <a:buNone/>
            </a:pPr>
            <a:r>
              <a:rPr lang="en-US" sz="1150" dirty="0">
                <a:solidFill>
                  <a:srgbClr val="D9E1FF"/>
                </a:solidFill>
                <a:latin typeface="Kanit" pitchFamily="34" charset="0"/>
                <a:ea typeface="Kanit" pitchFamily="34" charset="-122"/>
                <a:cs typeface="Kanit" pitchFamily="34" charset="-120"/>
              </a:rPr>
              <a:t>4</a:t>
            </a:r>
            <a:endParaRPr lang="en-US" sz="1150" dirty="0"/>
          </a:p>
        </p:txBody>
      </p:sp>
      <p:sp>
        <p:nvSpPr>
          <p:cNvPr id="21" name="Text 19"/>
          <p:cNvSpPr/>
          <p:nvPr/>
        </p:nvSpPr>
        <p:spPr>
          <a:xfrm>
            <a:off x="3888879" y="3387179"/>
            <a:ext cx="1567755" cy="156418"/>
          </a:xfrm>
          <a:prstGeom prst="rect">
            <a:avLst/>
          </a:prstGeom>
          <a:noFill/>
          <a:ln/>
        </p:spPr>
        <p:txBody>
          <a:bodyPr wrap="none" lIns="0" tIns="0" rIns="0" bIns="0" rtlCol="0" anchor="t"/>
          <a:lstStyle/>
          <a:p>
            <a:pPr marL="0" indent="0" algn="l">
              <a:lnSpc>
                <a:spcPct val="104000"/>
              </a:lnSpc>
              <a:buNone/>
            </a:pPr>
            <a:r>
              <a:rPr lang="en-US" sz="950" dirty="0">
                <a:solidFill>
                  <a:srgbClr val="D9E1FF"/>
                </a:solidFill>
                <a:latin typeface="Kanit" pitchFamily="34" charset="0"/>
                <a:ea typeface="Kanit" pitchFamily="34" charset="-122"/>
                <a:cs typeface="Kanit" pitchFamily="34" charset="-120"/>
              </a:rPr>
              <a:t>Multi-Classroom Monitoring</a:t>
            </a:r>
            <a:endParaRPr lang="en-US" sz="950" dirty="0"/>
          </a:p>
        </p:txBody>
      </p:sp>
      <p:sp>
        <p:nvSpPr>
          <p:cNvPr id="22" name="Text 20"/>
          <p:cNvSpPr/>
          <p:nvPr/>
        </p:nvSpPr>
        <p:spPr>
          <a:xfrm>
            <a:off x="3888879" y="3595390"/>
            <a:ext cx="4523929" cy="308372"/>
          </a:xfrm>
          <a:prstGeom prst="rect">
            <a:avLst/>
          </a:prstGeom>
          <a:noFill/>
          <a:ln/>
        </p:spPr>
        <p:txBody>
          <a:bodyPr wrap="square" lIns="0" tIns="0" rIns="0" bIns="0" rtlCol="0" anchor="t">
            <a:normAutofit/>
          </a:bodyPr>
          <a:lstStyle/>
          <a:p>
            <a:pPr marL="0" indent="0" algn="l">
              <a:lnSpc>
                <a:spcPct val="121000"/>
              </a:lnSpc>
              <a:buNone/>
            </a:pPr>
            <a:r>
              <a:rPr lang="en-US" sz="800" dirty="0">
                <a:solidFill>
                  <a:srgbClr val="D9E1FF"/>
                </a:solidFill>
                <a:latin typeface="Martel Sans Light" pitchFamily="34" charset="0"/>
                <a:ea typeface="Martel Sans Light" pitchFamily="34" charset="-122"/>
                <a:cs typeface="Martel Sans Light" pitchFamily="34" charset="-120"/>
              </a:rPr>
              <a:t>Support simultaneous monitoring of multiple classrooms with a unified admin dashboard for institutional oversight.</a:t>
            </a:r>
            <a:endParaRPr lang="en-US" sz="800" dirty="0"/>
          </a:p>
        </p:txBody>
      </p:sp>
      <p:sp>
        <p:nvSpPr>
          <p:cNvPr id="23" name="Shape 21"/>
          <p:cNvSpPr/>
          <p:nvPr/>
        </p:nvSpPr>
        <p:spPr>
          <a:xfrm>
            <a:off x="3835673" y="4004146"/>
            <a:ext cx="4630341" cy="7144"/>
          </a:xfrm>
          <a:prstGeom prst="roundRect">
            <a:avLst>
              <a:gd name="adj" fmla="val 223332"/>
            </a:avLst>
          </a:prstGeom>
          <a:solidFill>
            <a:srgbClr val="48446D"/>
          </a:solidFill>
          <a:ln/>
        </p:spPr>
        <p:txBody>
          <a:bodyPr/>
          <a:lstStyle/>
          <a:p>
            <a:endParaRPr lang="en-US"/>
          </a:p>
        </p:txBody>
      </p:sp>
      <p:sp>
        <p:nvSpPr>
          <p:cNvPr id="24" name="Shape 22"/>
          <p:cNvSpPr/>
          <p:nvPr/>
        </p:nvSpPr>
        <p:spPr>
          <a:xfrm>
            <a:off x="624855" y="4063231"/>
            <a:ext cx="3947145" cy="729258"/>
          </a:xfrm>
          <a:prstGeom prst="roundRect">
            <a:avLst>
              <a:gd name="adj" fmla="val 2188"/>
            </a:avLst>
          </a:prstGeom>
          <a:solidFill>
            <a:srgbClr val="2F2B54"/>
          </a:solidFill>
          <a:ln/>
        </p:spPr>
        <p:txBody>
          <a:bodyPr/>
          <a:lstStyle/>
          <a:p>
            <a:endParaRPr lang="en-US"/>
          </a:p>
        </p:txBody>
      </p:sp>
      <p:sp>
        <p:nvSpPr>
          <p:cNvPr id="25" name="Text 23"/>
          <p:cNvSpPr/>
          <p:nvPr/>
        </p:nvSpPr>
        <p:spPr>
          <a:xfrm>
            <a:off x="2523604" y="4334396"/>
            <a:ext cx="149572" cy="186928"/>
          </a:xfrm>
          <a:prstGeom prst="rect">
            <a:avLst/>
          </a:prstGeom>
          <a:noFill/>
          <a:ln/>
        </p:spPr>
        <p:txBody>
          <a:bodyPr wrap="none" lIns="0" tIns="0" rIns="0" bIns="0" rtlCol="0" anchor="ctr"/>
          <a:lstStyle/>
          <a:p>
            <a:pPr marL="0" indent="0" algn="ctr">
              <a:lnSpc>
                <a:spcPct val="100000"/>
              </a:lnSpc>
              <a:buNone/>
            </a:pPr>
            <a:r>
              <a:rPr lang="en-US" sz="1150" dirty="0">
                <a:solidFill>
                  <a:srgbClr val="D9E1FF"/>
                </a:solidFill>
                <a:latin typeface="Kanit" pitchFamily="34" charset="0"/>
                <a:ea typeface="Kanit" pitchFamily="34" charset="-122"/>
                <a:cs typeface="Kanit" pitchFamily="34" charset="-120"/>
              </a:rPr>
              <a:t>5</a:t>
            </a:r>
            <a:endParaRPr lang="en-US" sz="1150" dirty="0"/>
          </a:p>
        </p:txBody>
      </p:sp>
      <p:sp>
        <p:nvSpPr>
          <p:cNvPr id="26" name="Text 24"/>
          <p:cNvSpPr/>
          <p:nvPr/>
        </p:nvSpPr>
        <p:spPr>
          <a:xfrm>
            <a:off x="4678338" y="4169569"/>
            <a:ext cx="1251347" cy="156418"/>
          </a:xfrm>
          <a:prstGeom prst="rect">
            <a:avLst/>
          </a:prstGeom>
          <a:noFill/>
          <a:ln/>
        </p:spPr>
        <p:txBody>
          <a:bodyPr wrap="none" lIns="0" tIns="0" rIns="0" bIns="0" rtlCol="0" anchor="t"/>
          <a:lstStyle/>
          <a:p>
            <a:pPr marL="0" indent="0" algn="l">
              <a:lnSpc>
                <a:spcPct val="104000"/>
              </a:lnSpc>
              <a:buNone/>
            </a:pPr>
            <a:r>
              <a:rPr lang="en-US" sz="950" dirty="0">
                <a:solidFill>
                  <a:srgbClr val="D9E1FF"/>
                </a:solidFill>
                <a:latin typeface="Kanit" pitchFamily="34" charset="0"/>
                <a:ea typeface="Kanit" pitchFamily="34" charset="-122"/>
                <a:cs typeface="Kanit" pitchFamily="34" charset="-120"/>
              </a:rPr>
              <a:t>AI Recommendations</a:t>
            </a:r>
            <a:endParaRPr lang="en-US" sz="950" dirty="0"/>
          </a:p>
        </p:txBody>
      </p:sp>
      <p:sp>
        <p:nvSpPr>
          <p:cNvPr id="27" name="Text 25"/>
          <p:cNvSpPr/>
          <p:nvPr/>
        </p:nvSpPr>
        <p:spPr>
          <a:xfrm>
            <a:off x="4678338" y="4377779"/>
            <a:ext cx="3734470" cy="308372"/>
          </a:xfrm>
          <a:prstGeom prst="rect">
            <a:avLst/>
          </a:prstGeom>
          <a:noFill/>
          <a:ln/>
        </p:spPr>
        <p:txBody>
          <a:bodyPr wrap="square" lIns="0" tIns="0" rIns="0" bIns="0" rtlCol="0" anchor="t">
            <a:normAutofit/>
          </a:bodyPr>
          <a:lstStyle/>
          <a:p>
            <a:pPr marL="0" indent="0" algn="l">
              <a:lnSpc>
                <a:spcPct val="121000"/>
              </a:lnSpc>
              <a:buNone/>
            </a:pPr>
            <a:r>
              <a:rPr lang="en-US" sz="800" dirty="0">
                <a:solidFill>
                  <a:srgbClr val="D9E1FF"/>
                </a:solidFill>
                <a:latin typeface="Martel Sans Light" pitchFamily="34" charset="0"/>
                <a:ea typeface="Martel Sans Light" pitchFamily="34" charset="-122"/>
                <a:cs typeface="Martel Sans Light" pitchFamily="34" charset="-120"/>
              </a:rPr>
              <a:t>Build a recommendation engine that suggests teaching interventions based on detected behavioral patterns and historical trends.</a:t>
            </a:r>
            <a:endParaRPr lang="en-US" sz="800" dirty="0"/>
          </a:p>
        </p:txBody>
      </p:sp>
      <p:pic>
        <p:nvPicPr>
          <p:cNvPr id="28" name="Picture 27">
            <a:extLst>
              <a:ext uri="{FF2B5EF4-FFF2-40B4-BE49-F238E27FC236}">
                <a16:creationId xmlns:a16="http://schemas.microsoft.com/office/drawing/2014/main" id="{6B95683F-0147-2CAE-CE34-C92601EC4B15}"/>
              </a:ext>
            </a:extLst>
          </p:cNvPr>
          <p:cNvPicPr>
            <a:picLocks noChangeAspect="1"/>
          </p:cNvPicPr>
          <p:nvPr/>
        </p:nvPicPr>
        <p:blipFill>
          <a:blip r:embed="rId3"/>
          <a:stretch>
            <a:fillRect/>
          </a:stretch>
        </p:blipFill>
        <p:spPr>
          <a:xfrm>
            <a:off x="7855527" y="4780407"/>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00757" y="295647"/>
            <a:ext cx="2911748" cy="306809"/>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Kanit" pitchFamily="34" charset="0"/>
                <a:ea typeface="Kanit" pitchFamily="34" charset="-122"/>
                <a:cs typeface="Kanit" pitchFamily="34" charset="-120"/>
              </a:rPr>
              <a:t>Conclusion</a:t>
            </a:r>
            <a:endParaRPr lang="en-US" sz="1900" dirty="0"/>
          </a:p>
        </p:txBody>
      </p:sp>
      <p:sp>
        <p:nvSpPr>
          <p:cNvPr id="3" name="Text 1"/>
          <p:cNvSpPr/>
          <p:nvPr/>
        </p:nvSpPr>
        <p:spPr>
          <a:xfrm>
            <a:off x="700757" y="768697"/>
            <a:ext cx="7742411" cy="299889"/>
          </a:xfrm>
          <a:prstGeom prst="rect">
            <a:avLst/>
          </a:prstGeom>
          <a:noFill/>
          <a:ln/>
        </p:spPr>
        <p:txBody>
          <a:bodyPr wrap="square" lIns="0" tIns="0" rIns="0" bIns="0" rtlCol="0" anchor="t">
            <a:normAutofit/>
          </a:bodyPr>
          <a:lstStyle/>
          <a:p>
            <a:pPr marL="0" indent="0" algn="l">
              <a:lnSpc>
                <a:spcPct val="120000"/>
              </a:lnSpc>
              <a:buNone/>
            </a:pPr>
            <a:r>
              <a:rPr lang="en-US" sz="800" dirty="0">
                <a:solidFill>
                  <a:srgbClr val="D9E1FF"/>
                </a:solidFill>
                <a:latin typeface="Martel Sans Light" pitchFamily="34" charset="0"/>
                <a:ea typeface="Martel Sans Light" pitchFamily="34" charset="-122"/>
                <a:cs typeface="Martel Sans Light" pitchFamily="34" charset="-120"/>
              </a:rPr>
              <a:t>This project demonstrates that </a:t>
            </a:r>
            <a:r>
              <a:rPr lang="en-US" sz="800" b="1" dirty="0">
                <a:solidFill>
                  <a:srgbClr val="D9E1FF"/>
                </a:solidFill>
                <a:latin typeface="Martel Sans Light" pitchFamily="34" charset="0"/>
                <a:ea typeface="Martel Sans Light" pitchFamily="34" charset="-122"/>
                <a:cs typeface="Martel Sans Light" pitchFamily="34" charset="-120"/>
              </a:rPr>
              <a:t>Artificial Intelligence and Computer Vision</a:t>
            </a:r>
            <a:r>
              <a:rPr lang="en-US" sz="800" dirty="0">
                <a:solidFill>
                  <a:srgbClr val="D9E1FF"/>
                </a:solidFill>
                <a:latin typeface="Martel Sans Light" pitchFamily="34" charset="0"/>
                <a:ea typeface="Martel Sans Light" pitchFamily="34" charset="-122"/>
                <a:cs typeface="Martel Sans Light" pitchFamily="34" charset="-120"/>
              </a:rPr>
              <a:t> can meaningfully transform classroom monitoring — moving from subjective, manual observation to </a:t>
            </a:r>
            <a:r>
              <a:rPr lang="en-US" sz="800" b="1" dirty="0">
                <a:solidFill>
                  <a:srgbClr val="D9E1FF"/>
                </a:solidFill>
                <a:latin typeface="Martel Sans Light" pitchFamily="34" charset="0"/>
                <a:ea typeface="Martel Sans Light" pitchFamily="34" charset="-122"/>
                <a:cs typeface="Martel Sans Light" pitchFamily="34" charset="-120"/>
              </a:rPr>
              <a:t>objective, data-driven engagement intelligence</a:t>
            </a:r>
            <a:r>
              <a:rPr lang="en-US" sz="800" dirty="0">
                <a:solidFill>
                  <a:srgbClr val="D9E1FF"/>
                </a:solidFill>
                <a:latin typeface="Martel Sans Light" pitchFamily="34" charset="0"/>
                <a:ea typeface="Martel Sans Light" pitchFamily="34" charset="-122"/>
                <a:cs typeface="Martel Sans Light" pitchFamily="34" charset="-120"/>
              </a:rPr>
              <a:t>.</a:t>
            </a:r>
            <a:endParaRPr lang="en-US" sz="800" dirty="0"/>
          </a:p>
        </p:txBody>
      </p:sp>
      <p:sp>
        <p:nvSpPr>
          <p:cNvPr id="4" name="Text 2"/>
          <p:cNvSpPr/>
          <p:nvPr/>
        </p:nvSpPr>
        <p:spPr>
          <a:xfrm>
            <a:off x="700757" y="1575420"/>
            <a:ext cx="2359893" cy="449833"/>
          </a:xfrm>
          <a:prstGeom prst="rect">
            <a:avLst/>
          </a:prstGeom>
          <a:noFill/>
          <a:ln/>
        </p:spPr>
        <p:txBody>
          <a:bodyPr wrap="square" lIns="0" tIns="0" rIns="0" bIns="0" rtlCol="0" anchor="t">
            <a:normAutofit/>
          </a:bodyPr>
          <a:lstStyle/>
          <a:p>
            <a:pPr marL="0" indent="0" algn="r">
              <a:lnSpc>
                <a:spcPct val="120000"/>
              </a:lnSpc>
              <a:buNone/>
            </a:pPr>
            <a:r>
              <a:rPr lang="en-US" sz="800" dirty="0">
                <a:solidFill>
                  <a:srgbClr val="D9E1FF"/>
                </a:solidFill>
                <a:latin typeface="Martel Sans Light" pitchFamily="34" charset="0"/>
                <a:ea typeface="Martel Sans Light" pitchFamily="34" charset="-122"/>
                <a:cs typeface="Martel Sans Light" pitchFamily="34" charset="-120"/>
              </a:rPr>
              <a:t>The system </a:t>
            </a:r>
            <a:r>
              <a:rPr lang="en-US" sz="800" b="1" dirty="0">
                <a:solidFill>
                  <a:srgbClr val="D9E1FF"/>
                </a:solidFill>
                <a:latin typeface="Martel Sans Light" pitchFamily="34" charset="0"/>
                <a:ea typeface="Martel Sans Light" pitchFamily="34" charset="-122"/>
                <a:cs typeface="Martel Sans Light" pitchFamily="34" charset="-120"/>
              </a:rPr>
              <a:t>successfully automates</a:t>
            </a:r>
            <a:r>
              <a:rPr lang="en-US" sz="800" dirty="0">
                <a:solidFill>
                  <a:srgbClr val="D9E1FF"/>
                </a:solidFill>
                <a:latin typeface="Martel Sans Light" pitchFamily="34" charset="0"/>
                <a:ea typeface="Martel Sans Light" pitchFamily="34" charset="-122"/>
                <a:cs typeface="Martel Sans Light" pitchFamily="34" charset="-120"/>
              </a:rPr>
              <a:t> classroom engagement monitoring with real-time video processing and facial landmark detection.</a:t>
            </a:r>
            <a:endParaRPr lang="en-US" sz="800" dirty="0"/>
          </a:p>
        </p:txBody>
      </p:sp>
      <p:pic>
        <p:nvPicPr>
          <p:cNvPr id="5" name="Image 0" descr="preencoded.png"/>
          <p:cNvPicPr>
            <a:picLocks noChangeAspect="1"/>
          </p:cNvPicPr>
          <p:nvPr/>
        </p:nvPicPr>
        <p:blipFill>
          <a:blip r:embed="rId3"/>
          <a:stretch>
            <a:fillRect/>
          </a:stretch>
        </p:blipFill>
        <p:spPr>
          <a:xfrm>
            <a:off x="3217069" y="1162050"/>
            <a:ext cx="2709788" cy="2709788"/>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48485" y="1662857"/>
            <a:ext cx="156046" cy="156046"/>
          </a:xfrm>
          <a:prstGeom prst="rect">
            <a:avLst/>
          </a:prstGeom>
        </p:spPr>
      </p:pic>
      <p:sp>
        <p:nvSpPr>
          <p:cNvPr id="7" name="Text 3"/>
          <p:cNvSpPr/>
          <p:nvPr/>
        </p:nvSpPr>
        <p:spPr>
          <a:xfrm>
            <a:off x="6083275" y="1575420"/>
            <a:ext cx="2359893" cy="449833"/>
          </a:xfrm>
          <a:prstGeom prst="rect">
            <a:avLst/>
          </a:prstGeom>
          <a:noFill/>
          <a:ln/>
        </p:spPr>
        <p:txBody>
          <a:bodyPr wrap="square" lIns="0" tIns="0" rIns="0" bIns="0" rtlCol="0" anchor="t">
            <a:normAutofit/>
          </a:bodyPr>
          <a:lstStyle/>
          <a:p>
            <a:pPr marL="0" indent="0" algn="l">
              <a:lnSpc>
                <a:spcPct val="120000"/>
              </a:lnSpc>
              <a:buNone/>
            </a:pPr>
            <a:r>
              <a:rPr lang="en-US" sz="800" dirty="0">
                <a:solidFill>
                  <a:srgbClr val="D9E1FF"/>
                </a:solidFill>
                <a:latin typeface="Martel Sans Light" pitchFamily="34" charset="0"/>
                <a:ea typeface="Martel Sans Light" pitchFamily="34" charset="-122"/>
                <a:cs typeface="Martel Sans Light" pitchFamily="34" charset="-120"/>
              </a:rPr>
              <a:t>AI and Computer Vision significantly </a:t>
            </a:r>
            <a:r>
              <a:rPr lang="en-US" sz="800" b="1" dirty="0">
                <a:solidFill>
                  <a:srgbClr val="D9E1FF"/>
                </a:solidFill>
                <a:latin typeface="Martel Sans Light" pitchFamily="34" charset="0"/>
                <a:ea typeface="Martel Sans Light" pitchFamily="34" charset="-122"/>
                <a:cs typeface="Martel Sans Light" pitchFamily="34" charset="-120"/>
              </a:rPr>
              <a:t>improve monitoring accuracy and efficiency</a:t>
            </a:r>
            <a:r>
              <a:rPr lang="en-US" sz="800" dirty="0">
                <a:solidFill>
                  <a:srgbClr val="D9E1FF"/>
                </a:solidFill>
                <a:latin typeface="Martel Sans Light" pitchFamily="34" charset="0"/>
                <a:ea typeface="Martel Sans Light" pitchFamily="34" charset="-122"/>
                <a:cs typeface="Martel Sans Light" pitchFamily="34" charset="-120"/>
              </a:rPr>
              <a:t> over traditional manual methods.</a:t>
            </a:r>
            <a:endParaRPr lang="en-US" sz="800" dirty="0"/>
          </a:p>
        </p:txBody>
      </p:sp>
      <p:pic>
        <p:nvPicPr>
          <p:cNvPr id="8" name="Image 2" descr="preencoded.png"/>
          <p:cNvPicPr>
            <a:picLocks noChangeAspect="1"/>
          </p:cNvPicPr>
          <p:nvPr/>
        </p:nvPicPr>
        <p:blipFill>
          <a:blip r:embed="rId5"/>
          <a:stretch>
            <a:fillRect/>
          </a:stretch>
        </p:blipFill>
        <p:spPr>
          <a:xfrm>
            <a:off x="3217069" y="1162050"/>
            <a:ext cx="2709788" cy="2709788"/>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69855" y="1893466"/>
            <a:ext cx="156046" cy="156046"/>
          </a:xfrm>
          <a:prstGeom prst="rect">
            <a:avLst/>
          </a:prstGeom>
        </p:spPr>
      </p:pic>
      <p:sp>
        <p:nvSpPr>
          <p:cNvPr id="10" name="Text 4"/>
          <p:cNvSpPr/>
          <p:nvPr/>
        </p:nvSpPr>
        <p:spPr>
          <a:xfrm>
            <a:off x="6083275" y="3008561"/>
            <a:ext cx="2359893" cy="449833"/>
          </a:xfrm>
          <a:prstGeom prst="rect">
            <a:avLst/>
          </a:prstGeom>
          <a:noFill/>
          <a:ln/>
        </p:spPr>
        <p:txBody>
          <a:bodyPr wrap="square" lIns="0" tIns="0" rIns="0" bIns="0" rtlCol="0" anchor="t">
            <a:normAutofit/>
          </a:bodyPr>
          <a:lstStyle/>
          <a:p>
            <a:pPr marL="0" indent="0" algn="l">
              <a:lnSpc>
                <a:spcPct val="120000"/>
              </a:lnSpc>
              <a:buNone/>
            </a:pPr>
            <a:r>
              <a:rPr lang="en-US" sz="800" dirty="0">
                <a:solidFill>
                  <a:srgbClr val="D9E1FF"/>
                </a:solidFill>
                <a:latin typeface="Martel Sans Light" pitchFamily="34" charset="0"/>
                <a:ea typeface="Martel Sans Light" pitchFamily="34" charset="-122"/>
                <a:cs typeface="Martel Sans Light" pitchFamily="34" charset="-120"/>
              </a:rPr>
              <a:t>The project directly supports </a:t>
            </a:r>
            <a:r>
              <a:rPr lang="en-US" sz="800" b="1" dirty="0">
                <a:solidFill>
                  <a:srgbClr val="D9E1FF"/>
                </a:solidFill>
                <a:latin typeface="Martel Sans Light" pitchFamily="34" charset="0"/>
                <a:ea typeface="Martel Sans Light" pitchFamily="34" charset="-122"/>
                <a:cs typeface="Martel Sans Light" pitchFamily="34" charset="-120"/>
              </a:rPr>
              <a:t>smart classroom initiatives</a:t>
            </a:r>
            <a:r>
              <a:rPr lang="en-US" sz="800" dirty="0">
                <a:solidFill>
                  <a:srgbClr val="D9E1FF"/>
                </a:solidFill>
                <a:latin typeface="Martel Sans Light" pitchFamily="34" charset="0"/>
                <a:ea typeface="Martel Sans Light" pitchFamily="34" charset="-122"/>
                <a:cs typeface="Martel Sans Light" pitchFamily="34" charset="-120"/>
              </a:rPr>
              <a:t> and modern education technology ecosystems.</a:t>
            </a:r>
            <a:endParaRPr lang="en-US" sz="800" dirty="0"/>
          </a:p>
        </p:txBody>
      </p:sp>
      <p:pic>
        <p:nvPicPr>
          <p:cNvPr id="11" name="Image 4" descr="preencoded.png"/>
          <p:cNvPicPr>
            <a:picLocks noChangeAspect="1"/>
          </p:cNvPicPr>
          <p:nvPr/>
        </p:nvPicPr>
        <p:blipFill>
          <a:blip r:embed="rId6"/>
          <a:stretch>
            <a:fillRect/>
          </a:stretch>
        </p:blipFill>
        <p:spPr>
          <a:xfrm>
            <a:off x="3217069" y="1162050"/>
            <a:ext cx="2709788" cy="2709788"/>
          </a:xfrm>
          <a:prstGeom prst="rect">
            <a:avLst/>
          </a:prstGeom>
        </p:spPr>
      </p:pic>
      <p:pic>
        <p:nvPicPr>
          <p:cNvPr id="12"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39246" y="3214836"/>
            <a:ext cx="156046" cy="156046"/>
          </a:xfrm>
          <a:prstGeom prst="rect">
            <a:avLst/>
          </a:prstGeom>
        </p:spPr>
      </p:pic>
      <p:sp>
        <p:nvSpPr>
          <p:cNvPr id="13" name="Text 5"/>
          <p:cNvSpPr/>
          <p:nvPr/>
        </p:nvSpPr>
        <p:spPr>
          <a:xfrm>
            <a:off x="700757" y="3008561"/>
            <a:ext cx="2359893" cy="449833"/>
          </a:xfrm>
          <a:prstGeom prst="rect">
            <a:avLst/>
          </a:prstGeom>
          <a:noFill/>
          <a:ln/>
        </p:spPr>
        <p:txBody>
          <a:bodyPr wrap="square" lIns="0" tIns="0" rIns="0" bIns="0" rtlCol="0" anchor="t">
            <a:normAutofit/>
          </a:bodyPr>
          <a:lstStyle/>
          <a:p>
            <a:pPr marL="0" indent="0" algn="r">
              <a:lnSpc>
                <a:spcPct val="120000"/>
              </a:lnSpc>
              <a:buNone/>
            </a:pPr>
            <a:r>
              <a:rPr lang="en-US" sz="800" dirty="0">
                <a:solidFill>
                  <a:srgbClr val="D9E1FF"/>
                </a:solidFill>
                <a:latin typeface="Martel Sans Light" pitchFamily="34" charset="0"/>
                <a:ea typeface="Martel Sans Light" pitchFamily="34" charset="-122"/>
                <a:cs typeface="Martel Sans Light" pitchFamily="34" charset="-120"/>
              </a:rPr>
              <a:t>Real-time analytics </a:t>
            </a:r>
            <a:r>
              <a:rPr lang="en-US" sz="800" b="1" dirty="0">
                <a:solidFill>
                  <a:srgbClr val="D9E1FF"/>
                </a:solidFill>
                <a:latin typeface="Martel Sans Light" pitchFamily="34" charset="0"/>
                <a:ea typeface="Martel Sans Light" pitchFamily="34" charset="-122"/>
                <a:cs typeface="Martel Sans Light" pitchFamily="34" charset="-120"/>
              </a:rPr>
              <a:t>empower teachers</a:t>
            </a:r>
            <a:r>
              <a:rPr lang="en-US" sz="800" dirty="0">
                <a:solidFill>
                  <a:srgbClr val="D9E1FF"/>
                </a:solidFill>
                <a:latin typeface="Martel Sans Light" pitchFamily="34" charset="0"/>
                <a:ea typeface="Martel Sans Light" pitchFamily="34" charset="-122"/>
                <a:cs typeface="Martel Sans Light" pitchFamily="34" charset="-120"/>
              </a:rPr>
              <a:t> to understand and respond to student behavior more effectively.</a:t>
            </a:r>
            <a:endParaRPr lang="en-US" sz="800" dirty="0"/>
          </a:p>
        </p:txBody>
      </p:sp>
      <p:pic>
        <p:nvPicPr>
          <p:cNvPr id="14" name="Image 6" descr="preencoded.png"/>
          <p:cNvPicPr>
            <a:picLocks noChangeAspect="1"/>
          </p:cNvPicPr>
          <p:nvPr/>
        </p:nvPicPr>
        <p:blipFill>
          <a:blip r:embed="rId7"/>
          <a:stretch>
            <a:fillRect/>
          </a:stretch>
        </p:blipFill>
        <p:spPr>
          <a:xfrm>
            <a:off x="3217069" y="1162050"/>
            <a:ext cx="2709788" cy="2709788"/>
          </a:xfrm>
          <a:prstGeom prst="rect">
            <a:avLst/>
          </a:prstGeom>
        </p:spPr>
      </p:pic>
      <p:pic>
        <p:nvPicPr>
          <p:cNvPr id="15"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7875" y="2984227"/>
            <a:ext cx="156046" cy="156046"/>
          </a:xfrm>
          <a:prstGeom prst="rect">
            <a:avLst/>
          </a:prstGeom>
        </p:spPr>
      </p:pic>
      <p:sp>
        <p:nvSpPr>
          <p:cNvPr id="16" name="Shape 6"/>
          <p:cNvSpPr/>
          <p:nvPr/>
        </p:nvSpPr>
        <p:spPr>
          <a:xfrm>
            <a:off x="700757" y="3991347"/>
            <a:ext cx="7742411" cy="7813"/>
          </a:xfrm>
          <a:prstGeom prst="rect">
            <a:avLst/>
          </a:prstGeom>
          <a:solidFill>
            <a:srgbClr val="D9E1FF">
              <a:alpha val="50000"/>
            </a:srgbClr>
          </a:solidFill>
          <a:ln/>
        </p:spPr>
        <p:txBody>
          <a:bodyPr/>
          <a:lstStyle/>
          <a:p>
            <a:endParaRPr lang="en-US"/>
          </a:p>
        </p:txBody>
      </p:sp>
      <p:sp>
        <p:nvSpPr>
          <p:cNvPr id="17" name="Text 7"/>
          <p:cNvSpPr/>
          <p:nvPr/>
        </p:nvSpPr>
        <p:spPr>
          <a:xfrm>
            <a:off x="700757" y="4149849"/>
            <a:ext cx="3844528" cy="423416"/>
          </a:xfrm>
          <a:prstGeom prst="rect">
            <a:avLst/>
          </a:prstGeom>
          <a:noFill/>
          <a:ln/>
        </p:spPr>
        <p:txBody>
          <a:bodyPr wrap="none" lIns="0" tIns="0" rIns="0" bIns="0" rtlCol="0" anchor="t"/>
          <a:lstStyle/>
          <a:p>
            <a:pPr marL="0" indent="0" algn="l">
              <a:lnSpc>
                <a:spcPct val="104000"/>
              </a:lnSpc>
              <a:buNone/>
            </a:pPr>
            <a:r>
              <a:rPr lang="en-US" sz="2650" dirty="0">
                <a:solidFill>
                  <a:srgbClr val="FFFFFF"/>
                </a:solidFill>
                <a:latin typeface="Kanit" pitchFamily="34" charset="0"/>
                <a:ea typeface="Kanit" pitchFamily="34" charset="-122"/>
                <a:cs typeface="Kanit" pitchFamily="34" charset="-120"/>
              </a:rPr>
              <a:t>Thank You</a:t>
            </a:r>
            <a:endParaRPr lang="en-US" sz="2650" dirty="0"/>
          </a:p>
        </p:txBody>
      </p:sp>
      <p:sp>
        <p:nvSpPr>
          <p:cNvPr id="18" name="Text 8"/>
          <p:cNvSpPr/>
          <p:nvPr/>
        </p:nvSpPr>
        <p:spPr>
          <a:xfrm>
            <a:off x="700757" y="4697909"/>
            <a:ext cx="8199611" cy="149944"/>
          </a:xfrm>
          <a:prstGeom prst="rect">
            <a:avLst/>
          </a:prstGeom>
          <a:noFill/>
          <a:ln/>
        </p:spPr>
        <p:txBody>
          <a:bodyPr wrap="none" lIns="0" tIns="0" rIns="0" bIns="0" rtlCol="0" anchor="t"/>
          <a:lstStyle/>
          <a:p>
            <a:pPr marL="0" indent="0" algn="l">
              <a:lnSpc>
                <a:spcPct val="120000"/>
              </a:lnSpc>
              <a:buNone/>
            </a:pPr>
            <a:r>
              <a:rPr lang="en-US" sz="800" dirty="0">
                <a:solidFill>
                  <a:srgbClr val="D9E1FF"/>
                </a:solidFill>
                <a:latin typeface="Martel Sans Light" pitchFamily="34" charset="0"/>
                <a:ea typeface="Martel Sans Light" pitchFamily="34" charset="-122"/>
                <a:cs typeface="Martel Sans Light" pitchFamily="34" charset="-120"/>
              </a:rPr>
              <a:t>Presented By: </a:t>
            </a:r>
            <a:r>
              <a:rPr lang="en-US" sz="800" b="1" dirty="0">
                <a:solidFill>
                  <a:srgbClr val="D9E1FF"/>
                </a:solidFill>
                <a:latin typeface="Martel Sans Light" pitchFamily="34" charset="0"/>
                <a:ea typeface="Martel Sans Light" pitchFamily="34" charset="-122"/>
                <a:cs typeface="Martel Sans Light" pitchFamily="34" charset="-120"/>
              </a:rPr>
              <a:t>Mahammadsadiq R Mujavar</a:t>
            </a:r>
            <a:r>
              <a:rPr lang="en-US" sz="800" dirty="0">
                <a:solidFill>
                  <a:srgbClr val="D9E1FF"/>
                </a:solidFill>
                <a:latin typeface="Martel Sans Light" pitchFamily="34" charset="0"/>
                <a:ea typeface="Martel Sans Light" pitchFamily="34" charset="-122"/>
                <a:cs typeface="Martel Sans Light" pitchFamily="34" charset="-120"/>
              </a:rPr>
              <a:t> · BCA Final Year Project · Academic Year 2025–2026</a:t>
            </a:r>
            <a:endParaRPr lang="en-US" sz="800" dirty="0"/>
          </a:p>
        </p:txBody>
      </p:sp>
      <p:pic>
        <p:nvPicPr>
          <p:cNvPr id="19" name="Picture 18">
            <a:extLst>
              <a:ext uri="{FF2B5EF4-FFF2-40B4-BE49-F238E27FC236}">
                <a16:creationId xmlns:a16="http://schemas.microsoft.com/office/drawing/2014/main" id="{987043B5-D2BE-FF4C-7070-5DC17028D623}"/>
              </a:ext>
            </a:extLst>
          </p:cNvPr>
          <p:cNvPicPr>
            <a:picLocks noChangeAspect="1"/>
          </p:cNvPicPr>
          <p:nvPr/>
        </p:nvPicPr>
        <p:blipFill>
          <a:blip r:embed="rId8"/>
          <a:stretch>
            <a:fillRect/>
          </a:stretch>
        </p:blipFill>
        <p:spPr>
          <a:xfrm>
            <a:off x="7855527" y="4788720"/>
            <a:ext cx="1288472" cy="34389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1013</Words>
  <Application>Microsoft Macintosh PowerPoint</Application>
  <PresentationFormat>On-screen Show (16:9)</PresentationFormat>
  <Paragraphs>141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Kanit</vt:lpstr>
      <vt:lpstr>Arial</vt:lpstr>
      <vt:lpstr>Martel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mahammadsadiq mujavar</cp:lastModifiedBy>
  <cp:revision>2</cp:revision>
  <dcterms:created xsi:type="dcterms:W3CDTF">2026-06-03T03:21:41Z</dcterms:created>
  <dcterms:modified xsi:type="dcterms:W3CDTF">2026-06-03T05:20:07Z</dcterms:modified>
</cp:coreProperties>
</file>